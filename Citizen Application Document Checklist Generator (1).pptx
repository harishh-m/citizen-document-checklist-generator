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8.png"/><Relationship Id="rId11" Type="http://schemas.openxmlformats.org/officeDocument/2006/relationships/image" Target="../media/image-2-11.png"/><Relationship Id="rId12" Type="http://schemas.openxmlformats.org/officeDocument/2006/relationships/image" Target="../media/image-2-8.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9.png"/><Relationship Id="rId11" Type="http://schemas.openxmlformats.org/officeDocument/2006/relationships/image" Target="../media/image-3-9.png"/><Relationship Id="rId12" Type="http://schemas.openxmlformats.org/officeDocument/2006/relationships/image" Target="../media/image-3-9.png"/><Relationship Id="rId13" Type="http://schemas.openxmlformats.org/officeDocument/2006/relationships/image" Target="../media/image-3-9.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2.png"/><Relationship Id="rId8" Type="http://schemas.openxmlformats.org/officeDocument/2006/relationships/image" Target="../media/image-5-2.png"/><Relationship Id="rId9" Type="http://schemas.openxmlformats.org/officeDocument/2006/relationships/image" Target="../media/image-5-2.png"/><Relationship Id="rId10" Type="http://schemas.openxmlformats.org/officeDocument/2006/relationships/image" Target="../media/image-5-2.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2.png"/><Relationship Id="rId14" Type="http://schemas.openxmlformats.org/officeDocument/2006/relationships/image" Target="../media/image-5-12.png"/><Relationship Id="rId15" Type="http://schemas.openxmlformats.org/officeDocument/2006/relationships/image" Target="../media/image-5-12.png"/><Relationship Id="rId16" Type="http://schemas.openxmlformats.org/officeDocument/2006/relationships/image" Target="../media/image-5-12.png"/><Relationship Id="rId17" Type="http://schemas.openxmlformats.org/officeDocument/2006/relationships/image" Target="../media/image-5-12.png"/><Relationship Id="rId18" Type="http://schemas.openxmlformats.org/officeDocument/2006/relationships/image" Target="../media/image-5-12.png"/><Relationship Id="rId19" Type="http://schemas.openxmlformats.org/officeDocument/2006/relationships/image" Target="../media/image-5-12.png"/><Relationship Id="rId20" Type="http://schemas.openxmlformats.org/officeDocument/2006/relationships/slideLayout" Target="../slideLayouts/slideLayout1.xml"/><Relationship Id="rId2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image" Target="../media/image-6-2.png"/><Relationship Id="rId7" Type="http://schemas.openxmlformats.org/officeDocument/2006/relationships/image" Target="../media/image-6-7.png"/><Relationship Id="rId8" Type="http://schemas.openxmlformats.org/officeDocument/2006/relationships/image" Target="../media/image-6-2.png"/><Relationship Id="rId9" Type="http://schemas.openxmlformats.org/officeDocument/2006/relationships/image" Target="../media/image-6-9.png"/><Relationship Id="rId10" Type="http://schemas.openxmlformats.org/officeDocument/2006/relationships/image" Target="../media/image-6-2.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3.png"/><Relationship Id="rId16" Type="http://schemas.openxmlformats.org/officeDocument/2006/relationships/image" Target="../media/image-6-16.png"/><Relationship Id="rId17" Type="http://schemas.openxmlformats.org/officeDocument/2006/relationships/image" Target="../media/image-6-13.png"/><Relationship Id="rId18" Type="http://schemas.openxmlformats.org/officeDocument/2006/relationships/image" Target="../media/image-6-18.png"/><Relationship Id="rId19" Type="http://schemas.openxmlformats.org/officeDocument/2006/relationships/image" Target="../media/image-6-3.png"/><Relationship Id="rId20" Type="http://schemas.openxmlformats.org/officeDocument/2006/relationships/image" Target="../media/image-6-5.png"/><Relationship Id="rId21" Type="http://schemas.openxmlformats.org/officeDocument/2006/relationships/image" Target="../media/image-6-7.png"/><Relationship Id="rId22" Type="http://schemas.openxmlformats.org/officeDocument/2006/relationships/image" Target="../media/image-6-9.png"/><Relationship Id="rId23" Type="http://schemas.openxmlformats.org/officeDocument/2006/relationships/slideLayout" Target="../slideLayouts/slideLayout1.xml"/><Relationship Id="rId2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2.png"/><Relationship Id="rId7" Type="http://schemas.openxmlformats.org/officeDocument/2006/relationships/image" Target="../media/image-7-2.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0.png"/><Relationship Id="rId12" Type="http://schemas.openxmlformats.org/officeDocument/2006/relationships/image" Target="../media/image-7-10.png"/><Relationship Id="rId13" Type="http://schemas.openxmlformats.org/officeDocument/2006/relationships/image" Target="../media/image-7-10.png"/><Relationship Id="rId14" Type="http://schemas.openxmlformats.org/officeDocument/2006/relationships/image" Target="../media/image-7-10.png"/><Relationship Id="rId15" Type="http://schemas.openxmlformats.org/officeDocument/2006/relationships/image" Target="../media/image-7-10.png"/><Relationship Id="rId16" Type="http://schemas.openxmlformats.org/officeDocument/2006/relationships/image" Target="../media/image-7-10.png"/><Relationship Id="rId17" Type="http://schemas.openxmlformats.org/officeDocument/2006/relationships/image" Target="../media/image-7-10.png"/><Relationship Id="rId18" Type="http://schemas.openxmlformats.org/officeDocument/2006/relationships/image" Target="../media/image-7-10.png"/><Relationship Id="rId19" Type="http://schemas.openxmlformats.org/officeDocument/2006/relationships/image" Target="../media/image-7-19.png"/><Relationship Id="rId20" Type="http://schemas.openxmlformats.org/officeDocument/2006/relationships/image" Target="../media/image-7-2.png"/><Relationship Id="rId21" Type="http://schemas.openxmlformats.org/officeDocument/2006/relationships/image" Target="../media/image-7-2.png"/><Relationship Id="rId22" Type="http://schemas.openxmlformats.org/officeDocument/2006/relationships/image" Target="../media/image-7-2.png"/><Relationship Id="rId23" Type="http://schemas.openxmlformats.org/officeDocument/2006/relationships/image" Target="../media/image-7-2.png"/><Relationship Id="rId24" Type="http://schemas.openxmlformats.org/officeDocument/2006/relationships/image" Target="../media/image-7-2.png"/><Relationship Id="rId25" Type="http://schemas.openxmlformats.org/officeDocument/2006/relationships/image" Target="../media/image-7-2.png"/><Relationship Id="rId26" Type="http://schemas.openxmlformats.org/officeDocument/2006/relationships/slideLayout" Target="../slideLayouts/slideLayout1.xml"/><Relationship Id="rId2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image" Target="../media/image-8-2.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3"/>
        </a:solidFill>
      </p:bgPr>
    </p:bg>
    <p:spTree>
      <p:nvGrpSpPr>
        <p:cNvPr id="1" name=""/>
        <p:cNvGrpSpPr/>
        <p:nvPr/>
      </p:nvGrpSpPr>
      <p:grpSpPr>
        <a:xfrm>
          <a:off x="0" y="0"/>
          <a:ext cx="0" cy="0"/>
          <a:chOff x="0" y="0"/>
          <a:chExt cx="0" cy="0"/>
        </a:xfrm>
      </p:grpSpPr>
      <p:sp>
        <p:nvSpPr>
          <p:cNvPr id="2" name="Shape 0"/>
          <p:cNvSpPr/>
          <p:nvPr/>
        </p:nvSpPr>
        <p:spPr>
          <a:xfrm>
            <a:off x="8961120" y="-2011680"/>
            <a:ext cx="5943600" cy="5943600"/>
          </a:xfrm>
          <a:prstGeom prst="ellipse">
            <a:avLst/>
          </a:prstGeom>
          <a:solidFill>
            <a:srgbClr val="1E2761"/>
          </a:solidFill>
          <a:ln/>
        </p:spPr>
      </p:sp>
      <p:sp>
        <p:nvSpPr>
          <p:cNvPr id="3" name="Shape 1"/>
          <p:cNvSpPr/>
          <p:nvPr/>
        </p:nvSpPr>
        <p:spPr>
          <a:xfrm>
            <a:off x="-2377440" y="4754880"/>
            <a:ext cx="4572000" cy="4572000"/>
          </a:xfrm>
          <a:prstGeom prst="ellipse">
            <a:avLst/>
          </a:prstGeom>
          <a:solidFill>
            <a:srgbClr val="1E2761"/>
          </a:solidFill>
          <a:ln/>
        </p:spPr>
      </p:sp>
      <p:sp>
        <p:nvSpPr>
          <p:cNvPr id="4" name="Shape 2"/>
          <p:cNvSpPr/>
          <p:nvPr/>
        </p:nvSpPr>
        <p:spPr>
          <a:xfrm>
            <a:off x="4189324" y="722376"/>
            <a:ext cx="658368" cy="658368"/>
          </a:xfrm>
          <a:prstGeom prst="ellipse">
            <a:avLst/>
          </a:prstGeom>
          <a:solidFill>
            <a:srgbClr val="16204A"/>
          </a:solidFill>
          <a:ln/>
        </p:spPr>
      </p:sp>
      <p:pic>
        <p:nvPicPr>
          <p:cNvPr id="5" name="Image 0" descr="/home/claude/icons/service_CADCFC.png">    </p:cNvPr>
          <p:cNvPicPr>
            <a:picLocks noChangeAspect="1"/>
          </p:cNvPicPr>
          <p:nvPr/>
        </p:nvPicPr>
        <p:blipFill>
          <a:blip r:embed="rId1"/>
          <a:stretch>
            <a:fillRect/>
          </a:stretch>
        </p:blipFill>
        <p:spPr>
          <a:xfrm>
            <a:off x="4353916" y="886968"/>
            <a:ext cx="329184" cy="329184"/>
          </a:xfrm>
          <a:prstGeom prst="rect">
            <a:avLst/>
          </a:prstGeom>
        </p:spPr>
      </p:pic>
      <p:sp>
        <p:nvSpPr>
          <p:cNvPr id="6" name="Shape 3"/>
          <p:cNvSpPr/>
          <p:nvPr/>
        </p:nvSpPr>
        <p:spPr>
          <a:xfrm>
            <a:off x="5240884" y="722376"/>
            <a:ext cx="658368" cy="658368"/>
          </a:xfrm>
          <a:prstGeom prst="ellipse">
            <a:avLst/>
          </a:prstGeom>
          <a:solidFill>
            <a:srgbClr val="16204A"/>
          </a:solidFill>
          <a:ln/>
        </p:spPr>
      </p:sp>
      <p:pic>
        <p:nvPicPr>
          <p:cNvPr id="7" name="Image 1" descr="/home/claude/icons/documents_CADCFC.png">    </p:cNvPr>
          <p:cNvPicPr>
            <a:picLocks noChangeAspect="1"/>
          </p:cNvPicPr>
          <p:nvPr/>
        </p:nvPicPr>
        <p:blipFill>
          <a:blip r:embed="rId2"/>
          <a:stretch>
            <a:fillRect/>
          </a:stretch>
        </p:blipFill>
        <p:spPr>
          <a:xfrm>
            <a:off x="5405476" y="886968"/>
            <a:ext cx="329184" cy="329184"/>
          </a:xfrm>
          <a:prstGeom prst="rect">
            <a:avLst/>
          </a:prstGeom>
        </p:spPr>
      </p:pic>
      <p:sp>
        <p:nvSpPr>
          <p:cNvPr id="8" name="Shape 4"/>
          <p:cNvSpPr/>
          <p:nvPr/>
        </p:nvSpPr>
        <p:spPr>
          <a:xfrm>
            <a:off x="6292444" y="722376"/>
            <a:ext cx="658368" cy="658368"/>
          </a:xfrm>
          <a:prstGeom prst="ellipse">
            <a:avLst/>
          </a:prstGeom>
          <a:solidFill>
            <a:srgbClr val="16204A"/>
          </a:solidFill>
          <a:ln/>
        </p:spPr>
      </p:sp>
      <p:pic>
        <p:nvPicPr>
          <p:cNvPr id="9" name="Image 2" descr="/home/claude/icons/checklist_CADCFC.png">    </p:cNvPr>
          <p:cNvPicPr>
            <a:picLocks noChangeAspect="1"/>
          </p:cNvPicPr>
          <p:nvPr/>
        </p:nvPicPr>
        <p:blipFill>
          <a:blip r:embed="rId3"/>
          <a:stretch>
            <a:fillRect/>
          </a:stretch>
        </p:blipFill>
        <p:spPr>
          <a:xfrm>
            <a:off x="6457036" y="886968"/>
            <a:ext cx="329184" cy="329184"/>
          </a:xfrm>
          <a:prstGeom prst="rect">
            <a:avLst/>
          </a:prstGeom>
        </p:spPr>
      </p:pic>
      <p:sp>
        <p:nvSpPr>
          <p:cNvPr id="10" name="Shape 5"/>
          <p:cNvSpPr/>
          <p:nvPr/>
        </p:nvSpPr>
        <p:spPr>
          <a:xfrm>
            <a:off x="7344004" y="722376"/>
            <a:ext cx="658368" cy="658368"/>
          </a:xfrm>
          <a:prstGeom prst="ellipse">
            <a:avLst/>
          </a:prstGeom>
          <a:solidFill>
            <a:srgbClr val="16204A"/>
          </a:solidFill>
          <a:ln/>
        </p:spPr>
      </p:sp>
      <p:pic>
        <p:nvPicPr>
          <p:cNvPr id="11" name="Image 3" descr="/home/claude/icons/security_CADCFC.png">    </p:cNvPr>
          <p:cNvPicPr>
            <a:picLocks noChangeAspect="1"/>
          </p:cNvPicPr>
          <p:nvPr/>
        </p:nvPicPr>
        <p:blipFill>
          <a:blip r:embed="rId4"/>
          <a:stretch>
            <a:fillRect/>
          </a:stretch>
        </p:blipFill>
        <p:spPr>
          <a:xfrm>
            <a:off x="7508596" y="886968"/>
            <a:ext cx="329184" cy="329184"/>
          </a:xfrm>
          <a:prstGeom prst="rect">
            <a:avLst/>
          </a:prstGeom>
        </p:spPr>
      </p:pic>
      <p:sp>
        <p:nvSpPr>
          <p:cNvPr id="12" name="Text 6"/>
          <p:cNvSpPr/>
          <p:nvPr/>
        </p:nvSpPr>
        <p:spPr>
          <a:xfrm>
            <a:off x="914400" y="2057400"/>
            <a:ext cx="10360152" cy="365760"/>
          </a:xfrm>
          <a:prstGeom prst="rect">
            <a:avLst/>
          </a:prstGeom>
          <a:noFill/>
          <a:ln/>
        </p:spPr>
        <p:txBody>
          <a:bodyPr wrap="square" lIns="0" tIns="0" rIns="0" bIns="0" rtlCol="0" anchor="ctr"/>
          <a:lstStyle/>
          <a:p>
            <a:pPr algn="ctr" indent="0" marL="0">
              <a:buNone/>
            </a:pPr>
            <a:r>
              <a:rPr lang="en-US" sz="1300" b="1" spc="200" kern="0" dirty="0">
                <a:solidFill>
                  <a:srgbClr val="6E8CFF"/>
                </a:solidFill>
                <a:latin typeface="Calibri" pitchFamily="34" charset="0"/>
                <a:ea typeface="Calibri" pitchFamily="34" charset="-122"/>
                <a:cs typeface="Calibri" pitchFamily="34" charset="-120"/>
              </a:rPr>
              <a:t>B.TECH ARTIFICIAL INTELLIGENCE AND DATA SCIENCE</a:t>
            </a:r>
            <a:endParaRPr lang="en-US" sz="1300" dirty="0"/>
          </a:p>
        </p:txBody>
      </p:sp>
      <p:sp>
        <p:nvSpPr>
          <p:cNvPr id="13" name="Text 7"/>
          <p:cNvSpPr/>
          <p:nvPr/>
        </p:nvSpPr>
        <p:spPr>
          <a:xfrm>
            <a:off x="914400" y="2423160"/>
            <a:ext cx="10360152" cy="1554480"/>
          </a:xfrm>
          <a:prstGeom prst="rect">
            <a:avLst/>
          </a:prstGeom>
          <a:noFill/>
          <a:ln/>
        </p:spPr>
        <p:txBody>
          <a:bodyPr wrap="square" lIns="0" tIns="0" rIns="0" bIns="0" rtlCol="0" anchor="ctr"/>
          <a:lstStyle/>
          <a:p>
            <a:pPr algn="ct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Citizen Application Document</a:t>
            </a:r>
            <a:endParaRPr lang="en-US" sz="4000" dirty="0"/>
          </a:p>
          <a:p>
            <a:pPr algn="ct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Checklist Generator</a:t>
            </a:r>
            <a:endParaRPr lang="en-US" sz="4000" dirty="0"/>
          </a:p>
        </p:txBody>
      </p:sp>
      <p:sp>
        <p:nvSpPr>
          <p:cNvPr id="14" name="Shape 8"/>
          <p:cNvSpPr/>
          <p:nvPr/>
        </p:nvSpPr>
        <p:spPr>
          <a:xfrm>
            <a:off x="4718304" y="4041648"/>
            <a:ext cx="2743200" cy="0"/>
          </a:xfrm>
          <a:prstGeom prst="line">
            <a:avLst/>
          </a:prstGeom>
          <a:noFill/>
          <a:ln w="19050">
            <a:solidFill>
              <a:srgbClr val="CADCFC"/>
            </a:solidFill>
            <a:prstDash val="solid"/>
          </a:ln>
        </p:spPr>
      </p:sp>
      <p:sp>
        <p:nvSpPr>
          <p:cNvPr id="15" name="Text 9"/>
          <p:cNvSpPr/>
          <p:nvPr/>
        </p:nvSpPr>
        <p:spPr>
          <a:xfrm>
            <a:off x="1371600" y="4187952"/>
            <a:ext cx="9445752" cy="777240"/>
          </a:xfrm>
          <a:prstGeom prst="rect">
            <a:avLst/>
          </a:prstGeom>
          <a:noFill/>
          <a:ln/>
        </p:spPr>
        <p:txBody>
          <a:bodyPr wrap="square" lIns="0" tIns="0" rIns="0" bIns="0" rtlCol="0" anchor="ctr"/>
          <a:lstStyle/>
          <a:p>
            <a:pPr algn="ctr" indent="0" marL="0">
              <a:lnSpc>
                <a:spcPct val="120000"/>
              </a:lnSpc>
              <a:buNone/>
            </a:pPr>
            <a:r>
              <a:rPr lang="en-US" sz="1500" i="1" dirty="0">
                <a:solidFill>
                  <a:srgbClr val="CADCFC"/>
                </a:solidFill>
                <a:latin typeface="Calibri" pitchFamily="34" charset="0"/>
                <a:ea typeface="Calibri" pitchFamily="34" charset="-122"/>
                <a:cs typeface="Calibri" pitchFamily="34" charset="-120"/>
              </a:rPr>
              <a:t>A Web-Based Public Service Assistance System for Personalized</a:t>
            </a:r>
            <a:endParaRPr lang="en-US" sz="1500" dirty="0"/>
          </a:p>
          <a:p>
            <a:pPr algn="ctr" indent="0" marL="0">
              <a:lnSpc>
                <a:spcPct val="120000"/>
              </a:lnSpc>
              <a:buNone/>
            </a:pPr>
            <a:r>
              <a:rPr lang="en-US" sz="1500" i="1" dirty="0">
                <a:solidFill>
                  <a:srgbClr val="CADCFC"/>
                </a:solidFill>
                <a:latin typeface="Calibri" pitchFamily="34" charset="0"/>
                <a:ea typeface="Calibri" pitchFamily="34" charset="-122"/>
                <a:cs typeface="Calibri" pitchFamily="34" charset="-120"/>
              </a:rPr>
              <a:t>Government Document Requirement Checklists</a:t>
            </a:r>
            <a:endParaRPr lang="en-US" sz="1500" dirty="0"/>
          </a:p>
        </p:txBody>
      </p:sp>
      <p:sp>
        <p:nvSpPr>
          <p:cNvPr id="16" name="Shape 10"/>
          <p:cNvSpPr/>
          <p:nvPr/>
        </p:nvSpPr>
        <p:spPr>
          <a:xfrm>
            <a:off x="4023360" y="5257800"/>
            <a:ext cx="4142232" cy="1051560"/>
          </a:xfrm>
          <a:prstGeom prst="roundRect">
            <a:avLst>
              <a:gd name="adj" fmla="val 7826"/>
            </a:avLst>
          </a:prstGeom>
          <a:solidFill>
            <a:srgbClr val="141B3F"/>
          </a:solidFill>
          <a:ln w="12700">
            <a:solidFill>
              <a:srgbClr val="2A3566"/>
            </a:solidFill>
            <a:prstDash val="solid"/>
          </a:ln>
        </p:spPr>
      </p:sp>
      <p:sp>
        <p:nvSpPr>
          <p:cNvPr id="17" name="Text 11"/>
          <p:cNvSpPr/>
          <p:nvPr/>
        </p:nvSpPr>
        <p:spPr>
          <a:xfrm>
            <a:off x="4206240" y="5367528"/>
            <a:ext cx="3776472" cy="256032"/>
          </a:xfrm>
          <a:prstGeom prst="rect">
            <a:avLst/>
          </a:prstGeom>
          <a:noFill/>
          <a:ln/>
        </p:spPr>
        <p:txBody>
          <a:bodyPr wrap="square" lIns="0" tIns="0" rIns="0" bIns="0" rtlCol="0" anchor="ctr"/>
          <a:lstStyle/>
          <a:p>
            <a:pPr algn="ctr" indent="0" marL="0">
              <a:buNone/>
            </a:pPr>
            <a:r>
              <a:rPr lang="en-US" sz="1050" b="1" spc="150" kern="0" dirty="0">
                <a:solidFill>
                  <a:srgbClr val="3B5BDB"/>
                </a:solidFill>
                <a:latin typeface="Calibri" pitchFamily="34" charset="0"/>
                <a:ea typeface="Calibri" pitchFamily="34" charset="-122"/>
                <a:cs typeface="Calibri" pitchFamily="34" charset="-120"/>
              </a:rPr>
              <a:t>TEAM MEMBERS</a:t>
            </a:r>
            <a:endParaRPr lang="en-US" sz="1050" dirty="0"/>
          </a:p>
        </p:txBody>
      </p:sp>
      <p:sp>
        <p:nvSpPr>
          <p:cNvPr id="18" name="Text 12"/>
          <p:cNvSpPr/>
          <p:nvPr/>
        </p:nvSpPr>
        <p:spPr>
          <a:xfrm>
            <a:off x="4206240" y="5650992"/>
            <a:ext cx="3776472" cy="384048"/>
          </a:xfrm>
          <a:prstGeom prst="rect">
            <a:avLst/>
          </a:prstGeom>
          <a:noFill/>
          <a:ln/>
        </p:spPr>
        <p:txBody>
          <a:bodyPr wrap="square" lIns="0" tIns="0" rIns="0" bIns="0" rtlCol="0" anchor="ctr"/>
          <a:lstStyle/>
          <a:p>
            <a:pPr algn="ctr" indent="0" marL="0">
              <a:buNone/>
            </a:pPr>
            <a:r>
              <a:rPr lang="en-US" sz="1450" dirty="0">
                <a:solidFill>
                  <a:srgbClr val="FFFFFF"/>
                </a:solidFill>
                <a:latin typeface="Calibri" pitchFamily="34" charset="0"/>
                <a:ea typeface="Calibri" pitchFamily="34" charset="-122"/>
                <a:cs typeface="Calibri" pitchFamily="34" charset="-120"/>
              </a:rPr>
              <a:t>Harish M      •      Gokula Krishnan D</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548640" y="868680"/>
            <a:ext cx="7315200" cy="32004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Why citizens need a smarter way to prepare government applications</a:t>
            </a:r>
            <a:endParaRPr lang="en-US" sz="1300" dirty="0"/>
          </a:p>
        </p:txBody>
      </p:sp>
      <p:sp>
        <p:nvSpPr>
          <p:cNvPr id="4" name="Shape 2"/>
          <p:cNvSpPr/>
          <p:nvPr/>
        </p:nvSpPr>
        <p:spPr>
          <a:xfrm>
            <a:off x="576072" y="1559052"/>
            <a:ext cx="384048" cy="384048"/>
          </a:xfrm>
          <a:prstGeom prst="ellipse">
            <a:avLst/>
          </a:prstGeom>
          <a:solidFill>
            <a:srgbClr val="F3F6FC"/>
          </a:solidFill>
          <a:ln/>
        </p:spPr>
      </p:sp>
      <p:pic>
        <p:nvPicPr>
          <p:cNvPr id="5" name="Image 0" descr="/home/claude/icons/warning_1E2761.png">    </p:cNvPr>
          <p:cNvPicPr>
            <a:picLocks noChangeAspect="1"/>
          </p:cNvPicPr>
          <p:nvPr/>
        </p:nvPicPr>
        <p:blipFill>
          <a:blip r:embed="rId1"/>
          <a:stretch>
            <a:fillRect/>
          </a:stretch>
        </p:blipFill>
        <p:spPr>
          <a:xfrm>
            <a:off x="672084" y="1655064"/>
            <a:ext cx="192024" cy="192024"/>
          </a:xfrm>
          <a:prstGeom prst="rect">
            <a:avLst/>
          </a:prstGeom>
        </p:spPr>
      </p:pic>
      <p:sp>
        <p:nvSpPr>
          <p:cNvPr id="6" name="Text 3"/>
          <p:cNvSpPr/>
          <p:nvPr/>
        </p:nvSpPr>
        <p:spPr>
          <a:xfrm>
            <a:off x="1051560" y="1389888"/>
            <a:ext cx="5852160" cy="685800"/>
          </a:xfrm>
          <a:prstGeom prst="rect">
            <a:avLst/>
          </a:prstGeom>
          <a:noFill/>
          <a:ln/>
        </p:spPr>
        <p:txBody>
          <a:bodyPr wrap="square" lIns="0" tIns="0" rIns="0" bIns="0" rtlCol="0" anchor="ctr"/>
          <a:lstStyle/>
          <a:p>
            <a:pPr algn="l" indent="0" marL="0">
              <a:lnSpc>
                <a:spcPct val="108000"/>
              </a:lnSpc>
              <a:buNone/>
            </a:pPr>
            <a:r>
              <a:rPr lang="en-US" sz="1250" dirty="0">
                <a:solidFill>
                  <a:srgbClr val="26324D"/>
                </a:solidFill>
                <a:latin typeface="Calibri" pitchFamily="34" charset="0"/>
                <a:ea typeface="Calibri" pitchFamily="34" charset="-122"/>
                <a:cs typeface="Calibri" pitchFamily="34" charset="-120"/>
              </a:rPr>
              <a:t>Citizens often struggle to identify complete document requirements for government services.</a:t>
            </a:r>
            <a:endParaRPr lang="en-US" sz="1250" dirty="0"/>
          </a:p>
        </p:txBody>
      </p:sp>
      <p:sp>
        <p:nvSpPr>
          <p:cNvPr id="7" name="Shape 4"/>
          <p:cNvSpPr/>
          <p:nvPr/>
        </p:nvSpPr>
        <p:spPr>
          <a:xfrm>
            <a:off x="566928" y="2139696"/>
            <a:ext cx="6263640" cy="0"/>
          </a:xfrm>
          <a:prstGeom prst="line">
            <a:avLst/>
          </a:prstGeom>
          <a:noFill/>
          <a:ln w="9525">
            <a:solidFill>
              <a:srgbClr val="D8E1F5"/>
            </a:solidFill>
            <a:prstDash val="solid"/>
          </a:ln>
        </p:spPr>
      </p:sp>
      <p:sp>
        <p:nvSpPr>
          <p:cNvPr id="8" name="Shape 5"/>
          <p:cNvSpPr/>
          <p:nvPr/>
        </p:nvSpPr>
        <p:spPr>
          <a:xfrm>
            <a:off x="576072" y="2318004"/>
            <a:ext cx="384048" cy="384048"/>
          </a:xfrm>
          <a:prstGeom prst="ellipse">
            <a:avLst/>
          </a:prstGeom>
          <a:solidFill>
            <a:srgbClr val="F3F6FC"/>
          </a:solidFill>
          <a:ln/>
        </p:spPr>
      </p:sp>
      <p:pic>
        <p:nvPicPr>
          <p:cNvPr id="9" name="Image 1" descr="/home/claude/icons/warning_1E2761.png">    </p:cNvPr>
          <p:cNvPicPr>
            <a:picLocks noChangeAspect="1"/>
          </p:cNvPicPr>
          <p:nvPr/>
        </p:nvPicPr>
        <p:blipFill>
          <a:blip r:embed="rId2"/>
          <a:stretch>
            <a:fillRect/>
          </a:stretch>
        </p:blipFill>
        <p:spPr>
          <a:xfrm>
            <a:off x="672084" y="2414016"/>
            <a:ext cx="192024" cy="192024"/>
          </a:xfrm>
          <a:prstGeom prst="rect">
            <a:avLst/>
          </a:prstGeom>
        </p:spPr>
      </p:pic>
      <p:sp>
        <p:nvSpPr>
          <p:cNvPr id="10" name="Text 6"/>
          <p:cNvSpPr/>
          <p:nvPr/>
        </p:nvSpPr>
        <p:spPr>
          <a:xfrm>
            <a:off x="1051560" y="2148840"/>
            <a:ext cx="5852160" cy="685800"/>
          </a:xfrm>
          <a:prstGeom prst="rect">
            <a:avLst/>
          </a:prstGeom>
          <a:noFill/>
          <a:ln/>
        </p:spPr>
        <p:txBody>
          <a:bodyPr wrap="square" lIns="0" tIns="0" rIns="0" bIns="0" rtlCol="0" anchor="ctr"/>
          <a:lstStyle/>
          <a:p>
            <a:pPr algn="l" indent="0" marL="0">
              <a:lnSpc>
                <a:spcPct val="108000"/>
              </a:lnSpc>
              <a:buNone/>
            </a:pPr>
            <a:r>
              <a:rPr lang="en-US" sz="1250" dirty="0">
                <a:solidFill>
                  <a:srgbClr val="26324D"/>
                </a:solidFill>
                <a:latin typeface="Calibri" pitchFamily="34" charset="0"/>
                <a:ea typeface="Calibri" pitchFamily="34" charset="-122"/>
                <a:cs typeface="Calibri" pitchFamily="34" charset="-120"/>
              </a:rPr>
              <a:t>Requirements vary by age, category, income, residency, employment, and family status.</a:t>
            </a:r>
            <a:endParaRPr lang="en-US" sz="1250" dirty="0"/>
          </a:p>
        </p:txBody>
      </p:sp>
      <p:sp>
        <p:nvSpPr>
          <p:cNvPr id="11" name="Shape 7"/>
          <p:cNvSpPr/>
          <p:nvPr/>
        </p:nvSpPr>
        <p:spPr>
          <a:xfrm>
            <a:off x="566928" y="2898648"/>
            <a:ext cx="6263640" cy="0"/>
          </a:xfrm>
          <a:prstGeom prst="line">
            <a:avLst/>
          </a:prstGeom>
          <a:noFill/>
          <a:ln w="9525">
            <a:solidFill>
              <a:srgbClr val="D8E1F5"/>
            </a:solidFill>
            <a:prstDash val="solid"/>
          </a:ln>
        </p:spPr>
      </p:sp>
      <p:sp>
        <p:nvSpPr>
          <p:cNvPr id="12" name="Shape 8"/>
          <p:cNvSpPr/>
          <p:nvPr/>
        </p:nvSpPr>
        <p:spPr>
          <a:xfrm>
            <a:off x="576072" y="3076956"/>
            <a:ext cx="384048" cy="384048"/>
          </a:xfrm>
          <a:prstGeom prst="ellipse">
            <a:avLst/>
          </a:prstGeom>
          <a:solidFill>
            <a:srgbClr val="F3F6FC"/>
          </a:solidFill>
          <a:ln/>
        </p:spPr>
      </p:sp>
      <p:pic>
        <p:nvPicPr>
          <p:cNvPr id="13" name="Image 2" descr="/home/claude/icons/warning_1E2761.png">    </p:cNvPr>
          <p:cNvPicPr>
            <a:picLocks noChangeAspect="1"/>
          </p:cNvPicPr>
          <p:nvPr/>
        </p:nvPicPr>
        <p:blipFill>
          <a:blip r:embed="rId3"/>
          <a:stretch>
            <a:fillRect/>
          </a:stretch>
        </p:blipFill>
        <p:spPr>
          <a:xfrm>
            <a:off x="672084" y="3172968"/>
            <a:ext cx="192024" cy="192024"/>
          </a:xfrm>
          <a:prstGeom prst="rect">
            <a:avLst/>
          </a:prstGeom>
        </p:spPr>
      </p:pic>
      <p:sp>
        <p:nvSpPr>
          <p:cNvPr id="14" name="Text 9"/>
          <p:cNvSpPr/>
          <p:nvPr/>
        </p:nvSpPr>
        <p:spPr>
          <a:xfrm>
            <a:off x="1051560" y="2907792"/>
            <a:ext cx="5852160" cy="685800"/>
          </a:xfrm>
          <a:prstGeom prst="rect">
            <a:avLst/>
          </a:prstGeom>
          <a:noFill/>
          <a:ln/>
        </p:spPr>
        <p:txBody>
          <a:bodyPr wrap="square" lIns="0" tIns="0" rIns="0" bIns="0" rtlCol="0" anchor="ctr"/>
          <a:lstStyle/>
          <a:p>
            <a:pPr algn="l" indent="0" marL="0">
              <a:lnSpc>
                <a:spcPct val="108000"/>
              </a:lnSpc>
              <a:buNone/>
            </a:pPr>
            <a:r>
              <a:rPr lang="en-US" sz="1250" dirty="0">
                <a:solidFill>
                  <a:srgbClr val="26324D"/>
                </a:solidFill>
                <a:latin typeface="Calibri" pitchFamily="34" charset="0"/>
                <a:ea typeface="Calibri" pitchFamily="34" charset="-122"/>
                <a:cs typeface="Calibri" pitchFamily="34" charset="-120"/>
              </a:rPr>
              <a:t>Missing mandatory or supporting documents can lead to incomplete applications.</a:t>
            </a:r>
            <a:endParaRPr lang="en-US" sz="1250" dirty="0"/>
          </a:p>
        </p:txBody>
      </p:sp>
      <p:sp>
        <p:nvSpPr>
          <p:cNvPr id="15" name="Shape 10"/>
          <p:cNvSpPr/>
          <p:nvPr/>
        </p:nvSpPr>
        <p:spPr>
          <a:xfrm>
            <a:off x="566928" y="3657600"/>
            <a:ext cx="6263640" cy="0"/>
          </a:xfrm>
          <a:prstGeom prst="line">
            <a:avLst/>
          </a:prstGeom>
          <a:noFill/>
          <a:ln w="9525">
            <a:solidFill>
              <a:srgbClr val="D8E1F5"/>
            </a:solidFill>
            <a:prstDash val="solid"/>
          </a:ln>
        </p:spPr>
      </p:sp>
      <p:sp>
        <p:nvSpPr>
          <p:cNvPr id="16" name="Shape 11"/>
          <p:cNvSpPr/>
          <p:nvPr/>
        </p:nvSpPr>
        <p:spPr>
          <a:xfrm>
            <a:off x="576072" y="3835908"/>
            <a:ext cx="384048" cy="384048"/>
          </a:xfrm>
          <a:prstGeom prst="ellipse">
            <a:avLst/>
          </a:prstGeom>
          <a:solidFill>
            <a:srgbClr val="F3F6FC"/>
          </a:solidFill>
          <a:ln/>
        </p:spPr>
      </p:sp>
      <p:pic>
        <p:nvPicPr>
          <p:cNvPr id="17" name="Image 3" descr="/home/claude/icons/warning_1E2761.png">    </p:cNvPr>
          <p:cNvPicPr>
            <a:picLocks noChangeAspect="1"/>
          </p:cNvPicPr>
          <p:nvPr/>
        </p:nvPicPr>
        <p:blipFill>
          <a:blip r:embed="rId4"/>
          <a:stretch>
            <a:fillRect/>
          </a:stretch>
        </p:blipFill>
        <p:spPr>
          <a:xfrm>
            <a:off x="672084" y="3931920"/>
            <a:ext cx="192024" cy="192024"/>
          </a:xfrm>
          <a:prstGeom prst="rect">
            <a:avLst/>
          </a:prstGeom>
        </p:spPr>
      </p:pic>
      <p:sp>
        <p:nvSpPr>
          <p:cNvPr id="18" name="Text 12"/>
          <p:cNvSpPr/>
          <p:nvPr/>
        </p:nvSpPr>
        <p:spPr>
          <a:xfrm>
            <a:off x="1051560" y="3666744"/>
            <a:ext cx="5852160" cy="685800"/>
          </a:xfrm>
          <a:prstGeom prst="rect">
            <a:avLst/>
          </a:prstGeom>
          <a:noFill/>
          <a:ln/>
        </p:spPr>
        <p:txBody>
          <a:bodyPr wrap="square" lIns="0" tIns="0" rIns="0" bIns="0" rtlCol="0" anchor="ctr"/>
          <a:lstStyle/>
          <a:p>
            <a:pPr algn="l" indent="0" marL="0">
              <a:lnSpc>
                <a:spcPct val="108000"/>
              </a:lnSpc>
              <a:buNone/>
            </a:pPr>
            <a:r>
              <a:rPr lang="en-US" sz="1250" dirty="0">
                <a:solidFill>
                  <a:srgbClr val="26324D"/>
                </a:solidFill>
                <a:latin typeface="Calibri" pitchFamily="34" charset="0"/>
                <a:ea typeface="Calibri" pitchFamily="34" charset="-122"/>
                <a:cs typeface="Calibri" pitchFamily="34" charset="-120"/>
              </a:rPr>
              <a:t>Incomplete applications may cause rejection, delays, and repeated visits to service centers.</a:t>
            </a:r>
            <a:endParaRPr lang="en-US" sz="1250" dirty="0"/>
          </a:p>
        </p:txBody>
      </p:sp>
      <p:sp>
        <p:nvSpPr>
          <p:cNvPr id="19" name="Shape 13"/>
          <p:cNvSpPr/>
          <p:nvPr/>
        </p:nvSpPr>
        <p:spPr>
          <a:xfrm>
            <a:off x="566928" y="4416552"/>
            <a:ext cx="6263640" cy="0"/>
          </a:xfrm>
          <a:prstGeom prst="line">
            <a:avLst/>
          </a:prstGeom>
          <a:noFill/>
          <a:ln w="9525">
            <a:solidFill>
              <a:srgbClr val="D8E1F5"/>
            </a:solidFill>
            <a:prstDash val="solid"/>
          </a:ln>
        </p:spPr>
      </p:sp>
      <p:sp>
        <p:nvSpPr>
          <p:cNvPr id="20" name="Shape 14"/>
          <p:cNvSpPr/>
          <p:nvPr/>
        </p:nvSpPr>
        <p:spPr>
          <a:xfrm>
            <a:off x="576072" y="4594860"/>
            <a:ext cx="384048" cy="384048"/>
          </a:xfrm>
          <a:prstGeom prst="ellipse">
            <a:avLst/>
          </a:prstGeom>
          <a:solidFill>
            <a:srgbClr val="F3F6FC"/>
          </a:solidFill>
          <a:ln/>
        </p:spPr>
      </p:sp>
      <p:pic>
        <p:nvPicPr>
          <p:cNvPr id="21" name="Image 4" descr="/home/claude/icons/warning_1E2761.png">    </p:cNvPr>
          <p:cNvPicPr>
            <a:picLocks noChangeAspect="1"/>
          </p:cNvPicPr>
          <p:nvPr/>
        </p:nvPicPr>
        <p:blipFill>
          <a:blip r:embed="rId5"/>
          <a:stretch>
            <a:fillRect/>
          </a:stretch>
        </p:blipFill>
        <p:spPr>
          <a:xfrm>
            <a:off x="672084" y="4690872"/>
            <a:ext cx="192024" cy="192024"/>
          </a:xfrm>
          <a:prstGeom prst="rect">
            <a:avLst/>
          </a:prstGeom>
        </p:spPr>
      </p:pic>
      <p:sp>
        <p:nvSpPr>
          <p:cNvPr id="22" name="Text 15"/>
          <p:cNvSpPr/>
          <p:nvPr/>
        </p:nvSpPr>
        <p:spPr>
          <a:xfrm>
            <a:off x="1051560" y="4425696"/>
            <a:ext cx="5852160" cy="685800"/>
          </a:xfrm>
          <a:prstGeom prst="rect">
            <a:avLst/>
          </a:prstGeom>
          <a:noFill/>
          <a:ln/>
        </p:spPr>
        <p:txBody>
          <a:bodyPr wrap="square" lIns="0" tIns="0" rIns="0" bIns="0" rtlCol="0" anchor="ctr"/>
          <a:lstStyle/>
          <a:p>
            <a:pPr algn="l" indent="0" marL="0">
              <a:lnSpc>
                <a:spcPct val="108000"/>
              </a:lnSpc>
              <a:buNone/>
            </a:pPr>
            <a:r>
              <a:rPr lang="en-US" sz="1250" dirty="0">
                <a:solidFill>
                  <a:srgbClr val="26324D"/>
                </a:solidFill>
                <a:latin typeface="Calibri" pitchFamily="34" charset="0"/>
                <a:ea typeface="Calibri" pitchFamily="34" charset="-122"/>
                <a:cs typeface="Calibri" pitchFamily="34" charset="-120"/>
              </a:rPr>
              <a:t>Citizens depend on multiple sources, phone calls, or physical visits to verify requirements.</a:t>
            </a:r>
            <a:endParaRPr lang="en-US" sz="1250" dirty="0"/>
          </a:p>
        </p:txBody>
      </p:sp>
      <p:sp>
        <p:nvSpPr>
          <p:cNvPr id="23" name="Shape 16"/>
          <p:cNvSpPr/>
          <p:nvPr/>
        </p:nvSpPr>
        <p:spPr>
          <a:xfrm>
            <a:off x="566928" y="5175504"/>
            <a:ext cx="6263640" cy="0"/>
          </a:xfrm>
          <a:prstGeom prst="line">
            <a:avLst/>
          </a:prstGeom>
          <a:noFill/>
          <a:ln w="9525">
            <a:solidFill>
              <a:srgbClr val="D8E1F5"/>
            </a:solidFill>
            <a:prstDash val="solid"/>
          </a:ln>
        </p:spPr>
      </p:sp>
      <p:sp>
        <p:nvSpPr>
          <p:cNvPr id="24" name="Shape 17"/>
          <p:cNvSpPr/>
          <p:nvPr/>
        </p:nvSpPr>
        <p:spPr>
          <a:xfrm>
            <a:off x="576072" y="5353812"/>
            <a:ext cx="384048" cy="384048"/>
          </a:xfrm>
          <a:prstGeom prst="ellipse">
            <a:avLst/>
          </a:prstGeom>
          <a:solidFill>
            <a:srgbClr val="F3F6FC"/>
          </a:solidFill>
          <a:ln/>
        </p:spPr>
      </p:sp>
      <p:pic>
        <p:nvPicPr>
          <p:cNvPr id="25" name="Image 5" descr="/home/claude/icons/warning_1E2761.png">    </p:cNvPr>
          <p:cNvPicPr>
            <a:picLocks noChangeAspect="1"/>
          </p:cNvPicPr>
          <p:nvPr/>
        </p:nvPicPr>
        <p:blipFill>
          <a:blip r:embed="rId6"/>
          <a:stretch>
            <a:fillRect/>
          </a:stretch>
        </p:blipFill>
        <p:spPr>
          <a:xfrm>
            <a:off x="672084" y="5449824"/>
            <a:ext cx="192024" cy="192024"/>
          </a:xfrm>
          <a:prstGeom prst="rect">
            <a:avLst/>
          </a:prstGeom>
        </p:spPr>
      </p:pic>
      <p:sp>
        <p:nvSpPr>
          <p:cNvPr id="26" name="Text 18"/>
          <p:cNvSpPr/>
          <p:nvPr/>
        </p:nvSpPr>
        <p:spPr>
          <a:xfrm>
            <a:off x="1051560" y="5184648"/>
            <a:ext cx="5852160" cy="685800"/>
          </a:xfrm>
          <a:prstGeom prst="rect">
            <a:avLst/>
          </a:prstGeom>
          <a:noFill/>
          <a:ln/>
        </p:spPr>
        <p:txBody>
          <a:bodyPr wrap="square" lIns="0" tIns="0" rIns="0" bIns="0" rtlCol="0" anchor="ctr"/>
          <a:lstStyle/>
          <a:p>
            <a:pPr algn="l" indent="0" marL="0">
              <a:lnSpc>
                <a:spcPct val="108000"/>
              </a:lnSpc>
              <a:buNone/>
            </a:pPr>
            <a:r>
              <a:rPr lang="en-US" sz="1250" dirty="0">
                <a:solidFill>
                  <a:srgbClr val="26324D"/>
                </a:solidFill>
                <a:latin typeface="Calibri" pitchFamily="34" charset="0"/>
                <a:ea typeface="Calibri" pitchFamily="34" charset="-122"/>
                <a:cs typeface="Calibri" pitchFamily="34" charset="-120"/>
              </a:rPr>
              <a:t>A centralized and personalized document checklist system is needed.</a:t>
            </a:r>
            <a:endParaRPr lang="en-US" sz="1250" dirty="0"/>
          </a:p>
        </p:txBody>
      </p:sp>
      <p:sp>
        <p:nvSpPr>
          <p:cNvPr id="27" name="Shape 19"/>
          <p:cNvSpPr/>
          <p:nvPr/>
        </p:nvSpPr>
        <p:spPr>
          <a:xfrm>
            <a:off x="7452360" y="1417320"/>
            <a:ext cx="4206240" cy="4617720"/>
          </a:xfrm>
          <a:prstGeom prst="roundRect">
            <a:avLst>
              <a:gd name="adj" fmla="val 1957"/>
            </a:avLst>
          </a:prstGeom>
          <a:solidFill>
            <a:srgbClr val="0B1533"/>
          </a:solidFill>
          <a:ln/>
        </p:spPr>
      </p:sp>
      <p:sp>
        <p:nvSpPr>
          <p:cNvPr id="28" name="Text 20"/>
          <p:cNvSpPr/>
          <p:nvPr/>
        </p:nvSpPr>
        <p:spPr>
          <a:xfrm>
            <a:off x="7726680" y="1627632"/>
            <a:ext cx="3657600" cy="274320"/>
          </a:xfrm>
          <a:prstGeom prst="rect">
            <a:avLst/>
          </a:prstGeom>
          <a:noFill/>
          <a:ln/>
        </p:spPr>
        <p:txBody>
          <a:bodyPr wrap="square" lIns="0" tIns="0" rIns="0" bIns="0" rtlCol="0" anchor="ctr"/>
          <a:lstStyle/>
          <a:p>
            <a:pPr algn="ctr" indent="0" marL="0">
              <a:buNone/>
            </a:pPr>
            <a:r>
              <a:rPr lang="en-US" sz="1100" b="1" spc="150" kern="0" dirty="0">
                <a:solidFill>
                  <a:srgbClr val="3B5BDB"/>
                </a:solidFill>
                <a:latin typeface="Calibri" pitchFamily="34" charset="0"/>
                <a:ea typeface="Calibri" pitchFamily="34" charset="-122"/>
                <a:cs typeface="Calibri" pitchFamily="34" charset="-120"/>
              </a:rPr>
              <a:t>THE BREAKDOWN</a:t>
            </a:r>
            <a:endParaRPr lang="en-US" sz="1100" dirty="0"/>
          </a:p>
        </p:txBody>
      </p:sp>
      <p:sp>
        <p:nvSpPr>
          <p:cNvPr id="29" name="Shape 21"/>
          <p:cNvSpPr/>
          <p:nvPr/>
        </p:nvSpPr>
        <p:spPr>
          <a:xfrm>
            <a:off x="9272016" y="2185416"/>
            <a:ext cx="566928" cy="566928"/>
          </a:xfrm>
          <a:prstGeom prst="ellipse">
            <a:avLst/>
          </a:prstGeom>
          <a:solidFill>
            <a:srgbClr val="16204A"/>
          </a:solidFill>
          <a:ln/>
        </p:spPr>
      </p:sp>
      <p:pic>
        <p:nvPicPr>
          <p:cNvPr id="30" name="Image 6" descr="/home/claude/icons/citizens_CADCFC.png">    </p:cNvPr>
          <p:cNvPicPr>
            <a:picLocks noChangeAspect="1"/>
          </p:cNvPicPr>
          <p:nvPr/>
        </p:nvPicPr>
        <p:blipFill>
          <a:blip r:embed="rId7"/>
          <a:stretch>
            <a:fillRect/>
          </a:stretch>
        </p:blipFill>
        <p:spPr>
          <a:xfrm>
            <a:off x="9413748" y="2327148"/>
            <a:ext cx="283464" cy="283464"/>
          </a:xfrm>
          <a:prstGeom prst="rect">
            <a:avLst/>
          </a:prstGeom>
        </p:spPr>
      </p:pic>
      <p:sp>
        <p:nvSpPr>
          <p:cNvPr id="31" name="Text 22"/>
          <p:cNvSpPr/>
          <p:nvPr/>
        </p:nvSpPr>
        <p:spPr>
          <a:xfrm>
            <a:off x="7635240" y="2770632"/>
            <a:ext cx="38404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Citizen</a:t>
            </a:r>
            <a:endParaRPr lang="en-US" sz="1200" dirty="0"/>
          </a:p>
        </p:txBody>
      </p:sp>
      <p:pic>
        <p:nvPicPr>
          <p:cNvPr id="32" name="Image 7" descr="/home/claude/icons/arrowRight_CADCFC.png">    </p:cNvPr>
          <p:cNvPicPr>
            <a:picLocks noChangeAspect="1"/>
          </p:cNvPicPr>
          <p:nvPr/>
        </p:nvPicPr>
        <p:blipFill>
          <a:blip r:embed="rId8"/>
          <a:stretch>
            <a:fillRect/>
          </a:stretch>
        </p:blipFill>
        <p:spPr>
          <a:xfrm rot="5400000">
            <a:off x="9473184" y="3044952"/>
            <a:ext cx="164592" cy="164592"/>
          </a:xfrm>
          <a:prstGeom prst="rect">
            <a:avLst/>
          </a:prstGeom>
        </p:spPr>
      </p:pic>
      <p:sp>
        <p:nvSpPr>
          <p:cNvPr id="33" name="Shape 23"/>
          <p:cNvSpPr/>
          <p:nvPr/>
        </p:nvSpPr>
        <p:spPr>
          <a:xfrm>
            <a:off x="9272016" y="3145536"/>
            <a:ext cx="566928" cy="566928"/>
          </a:xfrm>
          <a:prstGeom prst="ellipse">
            <a:avLst/>
          </a:prstGeom>
          <a:solidFill>
            <a:srgbClr val="16204A"/>
          </a:solidFill>
          <a:ln/>
        </p:spPr>
      </p:sp>
      <p:pic>
        <p:nvPicPr>
          <p:cNvPr id="34" name="Image 8" descr="/home/claude/icons/question_CADCFC.png">    </p:cNvPr>
          <p:cNvPicPr>
            <a:picLocks noChangeAspect="1"/>
          </p:cNvPicPr>
          <p:nvPr/>
        </p:nvPicPr>
        <p:blipFill>
          <a:blip r:embed="rId9"/>
          <a:stretch>
            <a:fillRect/>
          </a:stretch>
        </p:blipFill>
        <p:spPr>
          <a:xfrm>
            <a:off x="9413748" y="3287268"/>
            <a:ext cx="283464" cy="283464"/>
          </a:xfrm>
          <a:prstGeom prst="rect">
            <a:avLst/>
          </a:prstGeom>
        </p:spPr>
      </p:pic>
      <p:sp>
        <p:nvSpPr>
          <p:cNvPr id="35" name="Text 24"/>
          <p:cNvSpPr/>
          <p:nvPr/>
        </p:nvSpPr>
        <p:spPr>
          <a:xfrm>
            <a:off x="7635240" y="3730752"/>
            <a:ext cx="38404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Confusion</a:t>
            </a:r>
            <a:endParaRPr lang="en-US" sz="1200" dirty="0"/>
          </a:p>
        </p:txBody>
      </p:sp>
      <p:pic>
        <p:nvPicPr>
          <p:cNvPr id="36" name="Image 9" descr="/home/claude/icons/arrowRight_CADCFC.png">    </p:cNvPr>
          <p:cNvPicPr>
            <a:picLocks noChangeAspect="1"/>
          </p:cNvPicPr>
          <p:nvPr/>
        </p:nvPicPr>
        <p:blipFill>
          <a:blip r:embed="rId10"/>
          <a:stretch>
            <a:fillRect/>
          </a:stretch>
        </p:blipFill>
        <p:spPr>
          <a:xfrm rot="5400000">
            <a:off x="9473184" y="4005072"/>
            <a:ext cx="164592" cy="164592"/>
          </a:xfrm>
          <a:prstGeom prst="rect">
            <a:avLst/>
          </a:prstGeom>
        </p:spPr>
      </p:pic>
      <p:sp>
        <p:nvSpPr>
          <p:cNvPr id="37" name="Shape 25"/>
          <p:cNvSpPr/>
          <p:nvPr/>
        </p:nvSpPr>
        <p:spPr>
          <a:xfrm>
            <a:off x="9272016" y="4105656"/>
            <a:ext cx="566928" cy="566928"/>
          </a:xfrm>
          <a:prstGeom prst="ellipse">
            <a:avLst/>
          </a:prstGeom>
          <a:solidFill>
            <a:srgbClr val="16204A"/>
          </a:solidFill>
          <a:ln/>
        </p:spPr>
      </p:sp>
      <p:pic>
        <p:nvPicPr>
          <p:cNvPr id="38" name="Image 10" descr="/home/claude/icons/filecircle_CADCFC.png">    </p:cNvPr>
          <p:cNvPicPr>
            <a:picLocks noChangeAspect="1"/>
          </p:cNvPicPr>
          <p:nvPr/>
        </p:nvPicPr>
        <p:blipFill>
          <a:blip r:embed="rId11"/>
          <a:stretch>
            <a:fillRect/>
          </a:stretch>
        </p:blipFill>
        <p:spPr>
          <a:xfrm>
            <a:off x="9413748" y="4247388"/>
            <a:ext cx="283464" cy="283464"/>
          </a:xfrm>
          <a:prstGeom prst="rect">
            <a:avLst/>
          </a:prstGeom>
        </p:spPr>
      </p:pic>
      <p:sp>
        <p:nvSpPr>
          <p:cNvPr id="39" name="Text 26"/>
          <p:cNvSpPr/>
          <p:nvPr/>
        </p:nvSpPr>
        <p:spPr>
          <a:xfrm>
            <a:off x="7635240" y="4690872"/>
            <a:ext cx="38404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Missing Documents</a:t>
            </a:r>
            <a:endParaRPr lang="en-US" sz="1200" dirty="0"/>
          </a:p>
        </p:txBody>
      </p:sp>
      <p:pic>
        <p:nvPicPr>
          <p:cNvPr id="40" name="Image 11" descr="/home/claude/icons/arrowRight_CADCFC.png">    </p:cNvPr>
          <p:cNvPicPr>
            <a:picLocks noChangeAspect="1"/>
          </p:cNvPicPr>
          <p:nvPr/>
        </p:nvPicPr>
        <p:blipFill>
          <a:blip r:embed="rId12"/>
          <a:stretch>
            <a:fillRect/>
          </a:stretch>
        </p:blipFill>
        <p:spPr>
          <a:xfrm rot="5400000">
            <a:off x="9473184" y="4965192"/>
            <a:ext cx="164592" cy="164592"/>
          </a:xfrm>
          <a:prstGeom prst="rect">
            <a:avLst/>
          </a:prstGeom>
        </p:spPr>
      </p:pic>
      <p:sp>
        <p:nvSpPr>
          <p:cNvPr id="41" name="Shape 27"/>
          <p:cNvSpPr/>
          <p:nvPr/>
        </p:nvSpPr>
        <p:spPr>
          <a:xfrm>
            <a:off x="9272016" y="5065776"/>
            <a:ext cx="566928" cy="566928"/>
          </a:xfrm>
          <a:prstGeom prst="ellipse">
            <a:avLst/>
          </a:prstGeom>
          <a:solidFill>
            <a:srgbClr val="16204A"/>
          </a:solidFill>
          <a:ln/>
        </p:spPr>
      </p:sp>
      <p:pic>
        <p:nvPicPr>
          <p:cNvPr id="42" name="Image 12" descr="/home/claude/icons/clock_CADCFC.png">    </p:cNvPr>
          <p:cNvPicPr>
            <a:picLocks noChangeAspect="1"/>
          </p:cNvPicPr>
          <p:nvPr/>
        </p:nvPicPr>
        <p:blipFill>
          <a:blip r:embed="rId13"/>
          <a:stretch>
            <a:fillRect/>
          </a:stretch>
        </p:blipFill>
        <p:spPr>
          <a:xfrm>
            <a:off x="9413748" y="5207508"/>
            <a:ext cx="283464" cy="283464"/>
          </a:xfrm>
          <a:prstGeom prst="rect">
            <a:avLst/>
          </a:prstGeom>
        </p:spPr>
      </p:pic>
      <p:sp>
        <p:nvSpPr>
          <p:cNvPr id="43" name="Text 28"/>
          <p:cNvSpPr/>
          <p:nvPr/>
        </p:nvSpPr>
        <p:spPr>
          <a:xfrm>
            <a:off x="7635240" y="5650992"/>
            <a:ext cx="384048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Delay / Repeated Visits</a:t>
            </a:r>
            <a:endParaRPr lang="en-US" sz="1200" dirty="0"/>
          </a:p>
        </p:txBody>
      </p:sp>
      <p:sp>
        <p:nvSpPr>
          <p:cNvPr id="44" name="Text 29"/>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Citizen Application Document Checklist Generator</a:t>
            </a:r>
            <a:endParaRPr lang="en-US" sz="900" dirty="0"/>
          </a:p>
        </p:txBody>
      </p:sp>
      <p:sp>
        <p:nvSpPr>
          <p:cNvPr id="45"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Proposed System</a:t>
            </a:r>
            <a:endParaRPr lang="en-US" sz="3000" dirty="0"/>
          </a:p>
        </p:txBody>
      </p:sp>
      <p:sp>
        <p:nvSpPr>
          <p:cNvPr id="3" name="Text 1"/>
          <p:cNvSpPr/>
          <p:nvPr/>
        </p:nvSpPr>
        <p:spPr>
          <a:xfrm>
            <a:off x="548640" y="896112"/>
            <a:ext cx="11064240" cy="502920"/>
          </a:xfrm>
          <a:prstGeom prst="rect">
            <a:avLst/>
          </a:prstGeom>
          <a:noFill/>
          <a:ln/>
        </p:spPr>
        <p:txBody>
          <a:bodyPr wrap="square" lIns="0" tIns="0" rIns="0" bIns="0" rtlCol="0" anchor="ctr"/>
          <a:lstStyle/>
          <a:p>
            <a:pPr algn="l" indent="0" marL="0">
              <a:lnSpc>
                <a:spcPct val="115000"/>
              </a:lnSpc>
              <a:buNone/>
            </a:pPr>
            <a:r>
              <a:rPr lang="en-US" sz="1250" dirty="0">
                <a:solidFill>
                  <a:srgbClr val="26324D"/>
                </a:solidFill>
                <a:latin typeface="Calibri" pitchFamily="34" charset="0"/>
                <a:ea typeface="Calibri" pitchFamily="34" charset="-122"/>
                <a:cs typeface="Calibri" pitchFamily="34" charset="-120"/>
              </a:rPr>
              <a:t>A public-access web application that helps citizens identify the documents required for government and public services, based on their selected service and responses.</a:t>
            </a:r>
            <a:endParaRPr lang="en-US" sz="1250" dirty="0"/>
          </a:p>
        </p:txBody>
      </p:sp>
      <p:sp>
        <p:nvSpPr>
          <p:cNvPr id="4" name="Shape 2"/>
          <p:cNvSpPr/>
          <p:nvPr/>
        </p:nvSpPr>
        <p:spPr>
          <a:xfrm>
            <a:off x="548640" y="1600200"/>
            <a:ext cx="3364992" cy="960120"/>
          </a:xfrm>
          <a:prstGeom prst="roundRect">
            <a:avLst>
              <a:gd name="adj" fmla="val 7619"/>
            </a:avLst>
          </a:prstGeom>
          <a:solidFill>
            <a:srgbClr val="F3F6FC"/>
          </a:solidFill>
          <a:ln/>
        </p:spPr>
      </p:sp>
      <p:sp>
        <p:nvSpPr>
          <p:cNvPr id="5" name="Shape 3"/>
          <p:cNvSpPr/>
          <p:nvPr/>
        </p:nvSpPr>
        <p:spPr>
          <a:xfrm>
            <a:off x="749808" y="1824228"/>
            <a:ext cx="512064" cy="512064"/>
          </a:xfrm>
          <a:prstGeom prst="ellipse">
            <a:avLst/>
          </a:prstGeom>
          <a:solidFill>
            <a:srgbClr val="FFFFFF"/>
          </a:solidFill>
          <a:ln/>
        </p:spPr>
      </p:sp>
      <p:pic>
        <p:nvPicPr>
          <p:cNvPr id="6" name="Image 0" descr="/home/claude/icons/citizens_1E2761.png">    </p:cNvPr>
          <p:cNvPicPr>
            <a:picLocks noChangeAspect="1"/>
          </p:cNvPicPr>
          <p:nvPr/>
        </p:nvPicPr>
        <p:blipFill>
          <a:blip r:embed="rId1"/>
          <a:stretch>
            <a:fillRect/>
          </a:stretch>
        </p:blipFill>
        <p:spPr>
          <a:xfrm>
            <a:off x="865022" y="1939442"/>
            <a:ext cx="281635" cy="281635"/>
          </a:xfrm>
          <a:prstGeom prst="rect">
            <a:avLst/>
          </a:prstGeom>
        </p:spPr>
      </p:pic>
      <p:sp>
        <p:nvSpPr>
          <p:cNvPr id="7" name="Text 4"/>
          <p:cNvSpPr/>
          <p:nvPr/>
        </p:nvSpPr>
        <p:spPr>
          <a:xfrm>
            <a:off x="1353312" y="160020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No Citizen Registration or Login</a:t>
            </a:r>
            <a:endParaRPr lang="en-US" sz="1200" dirty="0"/>
          </a:p>
        </p:txBody>
      </p:sp>
      <p:sp>
        <p:nvSpPr>
          <p:cNvPr id="8" name="Shape 5"/>
          <p:cNvSpPr/>
          <p:nvPr/>
        </p:nvSpPr>
        <p:spPr>
          <a:xfrm>
            <a:off x="4078224" y="1600200"/>
            <a:ext cx="3364992" cy="960120"/>
          </a:xfrm>
          <a:prstGeom prst="roundRect">
            <a:avLst>
              <a:gd name="adj" fmla="val 7619"/>
            </a:avLst>
          </a:prstGeom>
          <a:solidFill>
            <a:srgbClr val="F3F6FC"/>
          </a:solidFill>
          <a:ln/>
        </p:spPr>
      </p:sp>
      <p:sp>
        <p:nvSpPr>
          <p:cNvPr id="9" name="Shape 6"/>
          <p:cNvSpPr/>
          <p:nvPr/>
        </p:nvSpPr>
        <p:spPr>
          <a:xfrm>
            <a:off x="4279392" y="1824228"/>
            <a:ext cx="512064" cy="512064"/>
          </a:xfrm>
          <a:prstGeom prst="ellipse">
            <a:avLst/>
          </a:prstGeom>
          <a:solidFill>
            <a:srgbClr val="FFFFFF"/>
          </a:solidFill>
          <a:ln/>
        </p:spPr>
      </p:sp>
      <p:pic>
        <p:nvPicPr>
          <p:cNvPr id="10" name="Image 1" descr="/home/claude/icons/service_1E2761.png">    </p:cNvPr>
          <p:cNvPicPr>
            <a:picLocks noChangeAspect="1"/>
          </p:cNvPicPr>
          <p:nvPr/>
        </p:nvPicPr>
        <p:blipFill>
          <a:blip r:embed="rId2"/>
          <a:stretch>
            <a:fillRect/>
          </a:stretch>
        </p:blipFill>
        <p:spPr>
          <a:xfrm>
            <a:off x="4394606" y="1939442"/>
            <a:ext cx="281635" cy="281635"/>
          </a:xfrm>
          <a:prstGeom prst="rect">
            <a:avLst/>
          </a:prstGeom>
        </p:spPr>
      </p:pic>
      <p:sp>
        <p:nvSpPr>
          <p:cNvPr id="11" name="Text 7"/>
          <p:cNvSpPr/>
          <p:nvPr/>
        </p:nvSpPr>
        <p:spPr>
          <a:xfrm>
            <a:off x="4882896" y="160020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Government / Public Service Selection</a:t>
            </a:r>
            <a:endParaRPr lang="en-US" sz="1200" dirty="0"/>
          </a:p>
        </p:txBody>
      </p:sp>
      <p:sp>
        <p:nvSpPr>
          <p:cNvPr id="12" name="Shape 8"/>
          <p:cNvSpPr/>
          <p:nvPr/>
        </p:nvSpPr>
        <p:spPr>
          <a:xfrm>
            <a:off x="548640" y="2697480"/>
            <a:ext cx="3364992" cy="960120"/>
          </a:xfrm>
          <a:prstGeom prst="roundRect">
            <a:avLst>
              <a:gd name="adj" fmla="val 7619"/>
            </a:avLst>
          </a:prstGeom>
          <a:solidFill>
            <a:srgbClr val="F3F6FC"/>
          </a:solidFill>
          <a:ln/>
        </p:spPr>
      </p:sp>
      <p:sp>
        <p:nvSpPr>
          <p:cNvPr id="13" name="Shape 9"/>
          <p:cNvSpPr/>
          <p:nvPr/>
        </p:nvSpPr>
        <p:spPr>
          <a:xfrm>
            <a:off x="749808" y="2921508"/>
            <a:ext cx="512064" cy="512064"/>
          </a:xfrm>
          <a:prstGeom prst="ellipse">
            <a:avLst/>
          </a:prstGeom>
          <a:solidFill>
            <a:srgbClr val="FFFFFF"/>
          </a:solidFill>
          <a:ln/>
        </p:spPr>
      </p:sp>
      <p:pic>
        <p:nvPicPr>
          <p:cNvPr id="14" name="Image 2" descr="/home/claude/icons/question_1E2761.png">    </p:cNvPr>
          <p:cNvPicPr>
            <a:picLocks noChangeAspect="1"/>
          </p:cNvPicPr>
          <p:nvPr/>
        </p:nvPicPr>
        <p:blipFill>
          <a:blip r:embed="rId3"/>
          <a:stretch>
            <a:fillRect/>
          </a:stretch>
        </p:blipFill>
        <p:spPr>
          <a:xfrm>
            <a:off x="865022" y="3036722"/>
            <a:ext cx="281635" cy="281635"/>
          </a:xfrm>
          <a:prstGeom prst="rect">
            <a:avLst/>
          </a:prstGeom>
        </p:spPr>
      </p:pic>
      <p:sp>
        <p:nvSpPr>
          <p:cNvPr id="15" name="Text 10"/>
          <p:cNvSpPr/>
          <p:nvPr/>
        </p:nvSpPr>
        <p:spPr>
          <a:xfrm>
            <a:off x="1353312" y="269748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Dynamic Service-Specific Questions</a:t>
            </a:r>
            <a:endParaRPr lang="en-US" sz="1200" dirty="0"/>
          </a:p>
        </p:txBody>
      </p:sp>
      <p:sp>
        <p:nvSpPr>
          <p:cNvPr id="16" name="Shape 11"/>
          <p:cNvSpPr/>
          <p:nvPr/>
        </p:nvSpPr>
        <p:spPr>
          <a:xfrm>
            <a:off x="4078224" y="2697480"/>
            <a:ext cx="3364992" cy="960120"/>
          </a:xfrm>
          <a:prstGeom prst="roundRect">
            <a:avLst>
              <a:gd name="adj" fmla="val 7619"/>
            </a:avLst>
          </a:prstGeom>
          <a:solidFill>
            <a:srgbClr val="F3F6FC"/>
          </a:solidFill>
          <a:ln/>
        </p:spPr>
      </p:sp>
      <p:sp>
        <p:nvSpPr>
          <p:cNvPr id="17" name="Shape 12"/>
          <p:cNvSpPr/>
          <p:nvPr/>
        </p:nvSpPr>
        <p:spPr>
          <a:xfrm>
            <a:off x="4279392" y="2921508"/>
            <a:ext cx="512064" cy="512064"/>
          </a:xfrm>
          <a:prstGeom prst="ellipse">
            <a:avLst/>
          </a:prstGeom>
          <a:solidFill>
            <a:srgbClr val="FFFFFF"/>
          </a:solidFill>
          <a:ln/>
        </p:spPr>
      </p:sp>
      <p:pic>
        <p:nvPicPr>
          <p:cNvPr id="18" name="Image 3" descr="/home/claude/icons/gear_1E2761.png">    </p:cNvPr>
          <p:cNvPicPr>
            <a:picLocks noChangeAspect="1"/>
          </p:cNvPicPr>
          <p:nvPr/>
        </p:nvPicPr>
        <p:blipFill>
          <a:blip r:embed="rId4"/>
          <a:stretch>
            <a:fillRect/>
          </a:stretch>
        </p:blipFill>
        <p:spPr>
          <a:xfrm>
            <a:off x="4394606" y="3036722"/>
            <a:ext cx="281635" cy="281635"/>
          </a:xfrm>
          <a:prstGeom prst="rect">
            <a:avLst/>
          </a:prstGeom>
        </p:spPr>
      </p:pic>
      <p:sp>
        <p:nvSpPr>
          <p:cNvPr id="19" name="Text 13"/>
          <p:cNvSpPr/>
          <p:nvPr/>
        </p:nvSpPr>
        <p:spPr>
          <a:xfrm>
            <a:off x="4882896" y="269748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Rule-Based Requirement Analysis</a:t>
            </a:r>
            <a:endParaRPr lang="en-US" sz="1200" dirty="0"/>
          </a:p>
        </p:txBody>
      </p:sp>
      <p:sp>
        <p:nvSpPr>
          <p:cNvPr id="20" name="Shape 14"/>
          <p:cNvSpPr/>
          <p:nvPr/>
        </p:nvSpPr>
        <p:spPr>
          <a:xfrm>
            <a:off x="548640" y="3794760"/>
            <a:ext cx="3364992" cy="960120"/>
          </a:xfrm>
          <a:prstGeom prst="roundRect">
            <a:avLst>
              <a:gd name="adj" fmla="val 7619"/>
            </a:avLst>
          </a:prstGeom>
          <a:solidFill>
            <a:srgbClr val="F3F6FC"/>
          </a:solidFill>
          <a:ln/>
        </p:spPr>
      </p:sp>
      <p:sp>
        <p:nvSpPr>
          <p:cNvPr id="21" name="Shape 15"/>
          <p:cNvSpPr/>
          <p:nvPr/>
        </p:nvSpPr>
        <p:spPr>
          <a:xfrm>
            <a:off x="749808" y="4018788"/>
            <a:ext cx="512064" cy="512064"/>
          </a:xfrm>
          <a:prstGeom prst="ellipse">
            <a:avLst/>
          </a:prstGeom>
          <a:solidFill>
            <a:srgbClr val="FFFFFF"/>
          </a:solidFill>
          <a:ln/>
        </p:spPr>
      </p:sp>
      <p:pic>
        <p:nvPicPr>
          <p:cNvPr id="22" name="Image 4" descr="/home/claude/icons/checklist_1E2761.png">    </p:cNvPr>
          <p:cNvPicPr>
            <a:picLocks noChangeAspect="1"/>
          </p:cNvPicPr>
          <p:nvPr/>
        </p:nvPicPr>
        <p:blipFill>
          <a:blip r:embed="rId5"/>
          <a:stretch>
            <a:fillRect/>
          </a:stretch>
        </p:blipFill>
        <p:spPr>
          <a:xfrm>
            <a:off x="865022" y="4134002"/>
            <a:ext cx="281635" cy="281635"/>
          </a:xfrm>
          <a:prstGeom prst="rect">
            <a:avLst/>
          </a:prstGeom>
        </p:spPr>
      </p:pic>
      <p:sp>
        <p:nvSpPr>
          <p:cNvPr id="23" name="Text 16"/>
          <p:cNvSpPr/>
          <p:nvPr/>
        </p:nvSpPr>
        <p:spPr>
          <a:xfrm>
            <a:off x="1353312" y="379476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Personalized Checklist Generation</a:t>
            </a:r>
            <a:endParaRPr lang="en-US" sz="1200" dirty="0"/>
          </a:p>
        </p:txBody>
      </p:sp>
      <p:sp>
        <p:nvSpPr>
          <p:cNvPr id="24" name="Shape 17"/>
          <p:cNvSpPr/>
          <p:nvPr/>
        </p:nvSpPr>
        <p:spPr>
          <a:xfrm>
            <a:off x="4078224" y="3794760"/>
            <a:ext cx="3364992" cy="960120"/>
          </a:xfrm>
          <a:prstGeom prst="roundRect">
            <a:avLst>
              <a:gd name="adj" fmla="val 7619"/>
            </a:avLst>
          </a:prstGeom>
          <a:solidFill>
            <a:srgbClr val="F3F6FC"/>
          </a:solidFill>
          <a:ln/>
        </p:spPr>
      </p:sp>
      <p:sp>
        <p:nvSpPr>
          <p:cNvPr id="25" name="Shape 18"/>
          <p:cNvSpPr/>
          <p:nvPr/>
        </p:nvSpPr>
        <p:spPr>
          <a:xfrm>
            <a:off x="4279392" y="4018788"/>
            <a:ext cx="512064" cy="512064"/>
          </a:xfrm>
          <a:prstGeom prst="ellipse">
            <a:avLst/>
          </a:prstGeom>
          <a:solidFill>
            <a:srgbClr val="FFFFFF"/>
          </a:solidFill>
          <a:ln/>
        </p:spPr>
      </p:sp>
      <p:pic>
        <p:nvPicPr>
          <p:cNvPr id="26" name="Image 5" descr="/home/claude/icons/layers_1E2761.png">    </p:cNvPr>
          <p:cNvPicPr>
            <a:picLocks noChangeAspect="1"/>
          </p:cNvPicPr>
          <p:nvPr/>
        </p:nvPicPr>
        <p:blipFill>
          <a:blip r:embed="rId6"/>
          <a:stretch>
            <a:fillRect/>
          </a:stretch>
        </p:blipFill>
        <p:spPr>
          <a:xfrm>
            <a:off x="4394606" y="4134002"/>
            <a:ext cx="281635" cy="281635"/>
          </a:xfrm>
          <a:prstGeom prst="rect">
            <a:avLst/>
          </a:prstGeom>
        </p:spPr>
      </p:pic>
      <p:sp>
        <p:nvSpPr>
          <p:cNvPr id="27" name="Text 19"/>
          <p:cNvSpPr/>
          <p:nvPr/>
        </p:nvSpPr>
        <p:spPr>
          <a:xfrm>
            <a:off x="4882896" y="379476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Required / Conditional / Optional / Missing</a:t>
            </a:r>
            <a:endParaRPr lang="en-US" sz="1200" dirty="0"/>
          </a:p>
        </p:txBody>
      </p:sp>
      <p:sp>
        <p:nvSpPr>
          <p:cNvPr id="28" name="Shape 20"/>
          <p:cNvSpPr/>
          <p:nvPr/>
        </p:nvSpPr>
        <p:spPr>
          <a:xfrm>
            <a:off x="548640" y="4892040"/>
            <a:ext cx="3364992" cy="960120"/>
          </a:xfrm>
          <a:prstGeom prst="roundRect">
            <a:avLst>
              <a:gd name="adj" fmla="val 7619"/>
            </a:avLst>
          </a:prstGeom>
          <a:solidFill>
            <a:srgbClr val="F3F6FC"/>
          </a:solidFill>
          <a:ln/>
        </p:spPr>
      </p:sp>
      <p:sp>
        <p:nvSpPr>
          <p:cNvPr id="29" name="Shape 21"/>
          <p:cNvSpPr/>
          <p:nvPr/>
        </p:nvSpPr>
        <p:spPr>
          <a:xfrm>
            <a:off x="749808" y="5116068"/>
            <a:ext cx="512064" cy="512064"/>
          </a:xfrm>
          <a:prstGeom prst="ellipse">
            <a:avLst/>
          </a:prstGeom>
          <a:solidFill>
            <a:srgbClr val="FFFFFF"/>
          </a:solidFill>
          <a:ln/>
        </p:spPr>
      </p:sp>
      <p:pic>
        <p:nvPicPr>
          <p:cNvPr id="30" name="Image 6" descr="/home/claude/icons/download_1E2761.png">    </p:cNvPr>
          <p:cNvPicPr>
            <a:picLocks noChangeAspect="1"/>
          </p:cNvPicPr>
          <p:nvPr/>
        </p:nvPicPr>
        <p:blipFill>
          <a:blip r:embed="rId7"/>
          <a:stretch>
            <a:fillRect/>
          </a:stretch>
        </p:blipFill>
        <p:spPr>
          <a:xfrm>
            <a:off x="865022" y="5231282"/>
            <a:ext cx="281635" cy="281635"/>
          </a:xfrm>
          <a:prstGeom prst="rect">
            <a:avLst/>
          </a:prstGeom>
        </p:spPr>
      </p:pic>
      <p:sp>
        <p:nvSpPr>
          <p:cNvPr id="31" name="Text 22"/>
          <p:cNvSpPr/>
          <p:nvPr/>
        </p:nvSpPr>
        <p:spPr>
          <a:xfrm>
            <a:off x="1353312" y="489204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View, Download &amp; Print Checklist</a:t>
            </a:r>
            <a:endParaRPr lang="en-US" sz="1200" dirty="0"/>
          </a:p>
        </p:txBody>
      </p:sp>
      <p:sp>
        <p:nvSpPr>
          <p:cNvPr id="32" name="Shape 23"/>
          <p:cNvSpPr/>
          <p:nvPr/>
        </p:nvSpPr>
        <p:spPr>
          <a:xfrm>
            <a:off x="4078224" y="4892040"/>
            <a:ext cx="3364992" cy="960120"/>
          </a:xfrm>
          <a:prstGeom prst="roundRect">
            <a:avLst>
              <a:gd name="adj" fmla="val 7619"/>
            </a:avLst>
          </a:prstGeom>
          <a:solidFill>
            <a:srgbClr val="F3F6FC"/>
          </a:solidFill>
          <a:ln/>
        </p:spPr>
      </p:sp>
      <p:sp>
        <p:nvSpPr>
          <p:cNvPr id="33" name="Shape 24"/>
          <p:cNvSpPr/>
          <p:nvPr/>
        </p:nvSpPr>
        <p:spPr>
          <a:xfrm>
            <a:off x="4279392" y="5116068"/>
            <a:ext cx="512064" cy="512064"/>
          </a:xfrm>
          <a:prstGeom prst="ellipse">
            <a:avLst/>
          </a:prstGeom>
          <a:solidFill>
            <a:srgbClr val="FFFFFF"/>
          </a:solidFill>
          <a:ln/>
        </p:spPr>
      </p:sp>
      <p:pic>
        <p:nvPicPr>
          <p:cNvPr id="34" name="Image 7" descr="/home/claude/icons/admin_1E2761.png">    </p:cNvPr>
          <p:cNvPicPr>
            <a:picLocks noChangeAspect="1"/>
          </p:cNvPicPr>
          <p:nvPr/>
        </p:nvPicPr>
        <p:blipFill>
          <a:blip r:embed="rId8"/>
          <a:stretch>
            <a:fillRect/>
          </a:stretch>
        </p:blipFill>
        <p:spPr>
          <a:xfrm>
            <a:off x="4394606" y="5231282"/>
            <a:ext cx="281635" cy="281635"/>
          </a:xfrm>
          <a:prstGeom prst="rect">
            <a:avLst/>
          </a:prstGeom>
        </p:spPr>
      </p:pic>
      <p:sp>
        <p:nvSpPr>
          <p:cNvPr id="35" name="Text 25"/>
          <p:cNvSpPr/>
          <p:nvPr/>
        </p:nvSpPr>
        <p:spPr>
          <a:xfrm>
            <a:off x="4882896" y="4892040"/>
            <a:ext cx="2404872" cy="960120"/>
          </a:xfrm>
          <a:prstGeom prst="rect">
            <a:avLst/>
          </a:prstGeom>
          <a:noFill/>
          <a:ln/>
        </p:spPr>
        <p:txBody>
          <a:bodyPr wrap="square" lIns="0" tIns="0" rIns="0" bIns="0" rtlCol="0" anchor="ctr"/>
          <a:lstStyle/>
          <a:p>
            <a:pPr algn="l" indent="0" marL="0">
              <a:lnSpc>
                <a:spcPct val="110000"/>
              </a:lnSpc>
              <a:buNone/>
            </a:pPr>
            <a:r>
              <a:rPr lang="en-US" sz="1200" b="1" dirty="0">
                <a:solidFill>
                  <a:srgbClr val="1B2440"/>
                </a:solidFill>
                <a:latin typeface="Calibri" pitchFamily="34" charset="0"/>
                <a:ea typeface="Calibri" pitchFamily="34" charset="-122"/>
                <a:cs typeface="Calibri" pitchFamily="34" charset="-120"/>
              </a:rPr>
              <a:t>Secure Admin Login for Management</a:t>
            </a:r>
            <a:endParaRPr lang="en-US" sz="1200" dirty="0"/>
          </a:p>
        </p:txBody>
      </p:sp>
      <p:sp>
        <p:nvSpPr>
          <p:cNvPr id="36" name="Shape 26"/>
          <p:cNvSpPr/>
          <p:nvPr/>
        </p:nvSpPr>
        <p:spPr>
          <a:xfrm>
            <a:off x="8183880" y="1600200"/>
            <a:ext cx="3456432" cy="4617720"/>
          </a:xfrm>
          <a:prstGeom prst="roundRect">
            <a:avLst>
              <a:gd name="adj" fmla="val 2381"/>
            </a:avLst>
          </a:prstGeom>
          <a:solidFill>
            <a:srgbClr val="0B1533"/>
          </a:solidFill>
          <a:ln/>
        </p:spPr>
      </p:sp>
      <p:sp>
        <p:nvSpPr>
          <p:cNvPr id="37" name="Text 27"/>
          <p:cNvSpPr/>
          <p:nvPr/>
        </p:nvSpPr>
        <p:spPr>
          <a:xfrm>
            <a:off x="8439912" y="1783080"/>
            <a:ext cx="2944368" cy="274320"/>
          </a:xfrm>
          <a:prstGeom prst="rect">
            <a:avLst/>
          </a:prstGeom>
          <a:noFill/>
          <a:ln/>
        </p:spPr>
        <p:txBody>
          <a:bodyPr wrap="square" lIns="0" tIns="0" rIns="0" bIns="0" rtlCol="0" anchor="ctr"/>
          <a:lstStyle/>
          <a:p>
            <a:pPr algn="l" indent="0" marL="0">
              <a:buNone/>
            </a:pPr>
            <a:r>
              <a:rPr lang="en-US" sz="1200" b="1" spc="150" kern="0" dirty="0">
                <a:solidFill>
                  <a:srgbClr val="3B5BDB"/>
                </a:solidFill>
                <a:latin typeface="Calibri" pitchFamily="34" charset="0"/>
                <a:ea typeface="Calibri" pitchFamily="34" charset="-122"/>
                <a:cs typeface="Calibri" pitchFamily="34" charset="-120"/>
              </a:rPr>
              <a:t>OBJECTIVES</a:t>
            </a:r>
            <a:endParaRPr lang="en-US" sz="1200" dirty="0"/>
          </a:p>
        </p:txBody>
      </p:sp>
      <p:sp>
        <p:nvSpPr>
          <p:cNvPr id="38" name="Shape 28"/>
          <p:cNvSpPr/>
          <p:nvPr/>
        </p:nvSpPr>
        <p:spPr>
          <a:xfrm>
            <a:off x="8403336" y="2249424"/>
            <a:ext cx="329184" cy="329184"/>
          </a:xfrm>
          <a:prstGeom prst="ellipse">
            <a:avLst/>
          </a:prstGeom>
          <a:solidFill>
            <a:srgbClr val="16204A"/>
          </a:solidFill>
          <a:ln/>
        </p:spPr>
      </p:sp>
      <p:pic>
        <p:nvPicPr>
          <p:cNvPr id="39" name="Image 8" descr="/home/claude/icons/check_CADCFC.png">    </p:cNvPr>
          <p:cNvPicPr>
            <a:picLocks noChangeAspect="1"/>
          </p:cNvPicPr>
          <p:nvPr/>
        </p:nvPicPr>
        <p:blipFill>
          <a:blip r:embed="rId9"/>
          <a:stretch>
            <a:fillRect/>
          </a:stretch>
        </p:blipFill>
        <p:spPr>
          <a:xfrm>
            <a:off x="8477402" y="2323490"/>
            <a:ext cx="181051" cy="181051"/>
          </a:xfrm>
          <a:prstGeom prst="rect">
            <a:avLst/>
          </a:prstGeom>
        </p:spPr>
      </p:pic>
      <p:sp>
        <p:nvSpPr>
          <p:cNvPr id="40" name="Text 29"/>
          <p:cNvSpPr/>
          <p:nvPr/>
        </p:nvSpPr>
        <p:spPr>
          <a:xfrm>
            <a:off x="8842248" y="2212848"/>
            <a:ext cx="2542032" cy="566928"/>
          </a:xfrm>
          <a:prstGeom prst="rect">
            <a:avLst/>
          </a:prstGeom>
          <a:noFill/>
          <a:ln/>
        </p:spPr>
        <p:txBody>
          <a:bodyPr wrap="square" lIns="0" tIns="0" rIns="0" bIns="0" rtlCol="0" anchor="ctr"/>
          <a:lstStyle/>
          <a:p>
            <a:pPr algn="l" indent="0" marL="0">
              <a:lnSpc>
                <a:spcPct val="110000"/>
              </a:lnSpc>
              <a:buNone/>
            </a:pPr>
            <a:r>
              <a:rPr lang="en-US" sz="1200" dirty="0">
                <a:solidFill>
                  <a:srgbClr val="FFFFFF"/>
                </a:solidFill>
                <a:latin typeface="Calibri" pitchFamily="34" charset="0"/>
                <a:ea typeface="Calibri" pitchFamily="34" charset="-122"/>
                <a:cs typeface="Calibri" pitchFamily="34" charset="-120"/>
              </a:rPr>
              <a:t>Simplify document identification</a:t>
            </a:r>
            <a:endParaRPr lang="en-US" sz="1200" dirty="0"/>
          </a:p>
        </p:txBody>
      </p:sp>
      <p:sp>
        <p:nvSpPr>
          <p:cNvPr id="41" name="Shape 30"/>
          <p:cNvSpPr/>
          <p:nvPr/>
        </p:nvSpPr>
        <p:spPr>
          <a:xfrm>
            <a:off x="8403336" y="2962656"/>
            <a:ext cx="329184" cy="329184"/>
          </a:xfrm>
          <a:prstGeom prst="ellipse">
            <a:avLst/>
          </a:prstGeom>
          <a:solidFill>
            <a:srgbClr val="16204A"/>
          </a:solidFill>
          <a:ln/>
        </p:spPr>
      </p:sp>
      <p:pic>
        <p:nvPicPr>
          <p:cNvPr id="42" name="Image 9" descr="/home/claude/icons/check_CADCFC.png">    </p:cNvPr>
          <p:cNvPicPr>
            <a:picLocks noChangeAspect="1"/>
          </p:cNvPicPr>
          <p:nvPr/>
        </p:nvPicPr>
        <p:blipFill>
          <a:blip r:embed="rId10"/>
          <a:stretch>
            <a:fillRect/>
          </a:stretch>
        </p:blipFill>
        <p:spPr>
          <a:xfrm>
            <a:off x="8477402" y="3036722"/>
            <a:ext cx="181051" cy="181051"/>
          </a:xfrm>
          <a:prstGeom prst="rect">
            <a:avLst/>
          </a:prstGeom>
        </p:spPr>
      </p:pic>
      <p:sp>
        <p:nvSpPr>
          <p:cNvPr id="43" name="Text 31"/>
          <p:cNvSpPr/>
          <p:nvPr/>
        </p:nvSpPr>
        <p:spPr>
          <a:xfrm>
            <a:off x="8842248" y="2926080"/>
            <a:ext cx="2542032" cy="566928"/>
          </a:xfrm>
          <a:prstGeom prst="rect">
            <a:avLst/>
          </a:prstGeom>
          <a:noFill/>
          <a:ln/>
        </p:spPr>
        <p:txBody>
          <a:bodyPr wrap="square" lIns="0" tIns="0" rIns="0" bIns="0" rtlCol="0" anchor="ctr"/>
          <a:lstStyle/>
          <a:p>
            <a:pPr algn="l" indent="0" marL="0">
              <a:lnSpc>
                <a:spcPct val="110000"/>
              </a:lnSpc>
              <a:buNone/>
            </a:pPr>
            <a:r>
              <a:rPr lang="en-US" sz="1200" dirty="0">
                <a:solidFill>
                  <a:srgbClr val="FFFFFF"/>
                </a:solidFill>
                <a:latin typeface="Calibri" pitchFamily="34" charset="0"/>
                <a:ea typeface="Calibri" pitchFamily="34" charset="-122"/>
                <a:cs typeface="Calibri" pitchFamily="34" charset="-120"/>
              </a:rPr>
              <a:t>Reduce incomplete applications</a:t>
            </a:r>
            <a:endParaRPr lang="en-US" sz="1200" dirty="0"/>
          </a:p>
        </p:txBody>
      </p:sp>
      <p:sp>
        <p:nvSpPr>
          <p:cNvPr id="44" name="Shape 32"/>
          <p:cNvSpPr/>
          <p:nvPr/>
        </p:nvSpPr>
        <p:spPr>
          <a:xfrm>
            <a:off x="8403336" y="3675888"/>
            <a:ext cx="329184" cy="329184"/>
          </a:xfrm>
          <a:prstGeom prst="ellipse">
            <a:avLst/>
          </a:prstGeom>
          <a:solidFill>
            <a:srgbClr val="16204A"/>
          </a:solidFill>
          <a:ln/>
        </p:spPr>
      </p:sp>
      <p:pic>
        <p:nvPicPr>
          <p:cNvPr id="45" name="Image 10" descr="/home/claude/icons/check_CADCFC.png">    </p:cNvPr>
          <p:cNvPicPr>
            <a:picLocks noChangeAspect="1"/>
          </p:cNvPicPr>
          <p:nvPr/>
        </p:nvPicPr>
        <p:blipFill>
          <a:blip r:embed="rId11"/>
          <a:stretch>
            <a:fillRect/>
          </a:stretch>
        </p:blipFill>
        <p:spPr>
          <a:xfrm>
            <a:off x="8477402" y="3749954"/>
            <a:ext cx="181051" cy="181051"/>
          </a:xfrm>
          <a:prstGeom prst="rect">
            <a:avLst/>
          </a:prstGeom>
        </p:spPr>
      </p:pic>
      <p:sp>
        <p:nvSpPr>
          <p:cNvPr id="46" name="Text 33"/>
          <p:cNvSpPr/>
          <p:nvPr/>
        </p:nvSpPr>
        <p:spPr>
          <a:xfrm>
            <a:off x="8842248" y="3639312"/>
            <a:ext cx="2542032" cy="566928"/>
          </a:xfrm>
          <a:prstGeom prst="rect">
            <a:avLst/>
          </a:prstGeom>
          <a:noFill/>
          <a:ln/>
        </p:spPr>
        <p:txBody>
          <a:bodyPr wrap="square" lIns="0" tIns="0" rIns="0" bIns="0" rtlCol="0" anchor="ctr"/>
          <a:lstStyle/>
          <a:p>
            <a:pPr algn="l" indent="0" marL="0">
              <a:lnSpc>
                <a:spcPct val="110000"/>
              </a:lnSpc>
              <a:buNone/>
            </a:pPr>
            <a:r>
              <a:rPr lang="en-US" sz="1200" dirty="0">
                <a:solidFill>
                  <a:srgbClr val="FFFFFF"/>
                </a:solidFill>
                <a:latin typeface="Calibri" pitchFamily="34" charset="0"/>
                <a:ea typeface="Calibri" pitchFamily="34" charset="-122"/>
                <a:cs typeface="Calibri" pitchFamily="34" charset="-120"/>
              </a:rPr>
              <a:t>Reduce citizen confusion and delays</a:t>
            </a:r>
            <a:endParaRPr lang="en-US" sz="1200" dirty="0"/>
          </a:p>
        </p:txBody>
      </p:sp>
      <p:sp>
        <p:nvSpPr>
          <p:cNvPr id="47" name="Shape 34"/>
          <p:cNvSpPr/>
          <p:nvPr/>
        </p:nvSpPr>
        <p:spPr>
          <a:xfrm>
            <a:off x="8403336" y="4389120"/>
            <a:ext cx="329184" cy="329184"/>
          </a:xfrm>
          <a:prstGeom prst="ellipse">
            <a:avLst/>
          </a:prstGeom>
          <a:solidFill>
            <a:srgbClr val="16204A"/>
          </a:solidFill>
          <a:ln/>
        </p:spPr>
      </p:sp>
      <p:pic>
        <p:nvPicPr>
          <p:cNvPr id="48" name="Image 11" descr="/home/claude/icons/check_CADCFC.png">    </p:cNvPr>
          <p:cNvPicPr>
            <a:picLocks noChangeAspect="1"/>
          </p:cNvPicPr>
          <p:nvPr/>
        </p:nvPicPr>
        <p:blipFill>
          <a:blip r:embed="rId12"/>
          <a:stretch>
            <a:fillRect/>
          </a:stretch>
        </p:blipFill>
        <p:spPr>
          <a:xfrm>
            <a:off x="8477402" y="4463186"/>
            <a:ext cx="181051" cy="181051"/>
          </a:xfrm>
          <a:prstGeom prst="rect">
            <a:avLst/>
          </a:prstGeom>
        </p:spPr>
      </p:pic>
      <p:sp>
        <p:nvSpPr>
          <p:cNvPr id="49" name="Text 35"/>
          <p:cNvSpPr/>
          <p:nvPr/>
        </p:nvSpPr>
        <p:spPr>
          <a:xfrm>
            <a:off x="8842248" y="4352544"/>
            <a:ext cx="2542032" cy="566928"/>
          </a:xfrm>
          <a:prstGeom prst="rect">
            <a:avLst/>
          </a:prstGeom>
          <a:noFill/>
          <a:ln/>
        </p:spPr>
        <p:txBody>
          <a:bodyPr wrap="square" lIns="0" tIns="0" rIns="0" bIns="0" rtlCol="0" anchor="ctr"/>
          <a:lstStyle/>
          <a:p>
            <a:pPr algn="l" indent="0" marL="0">
              <a:lnSpc>
                <a:spcPct val="110000"/>
              </a:lnSpc>
              <a:buNone/>
            </a:pPr>
            <a:r>
              <a:rPr lang="en-US" sz="1200" dirty="0">
                <a:solidFill>
                  <a:srgbClr val="FFFFFF"/>
                </a:solidFill>
                <a:latin typeface="Calibri" pitchFamily="34" charset="0"/>
                <a:ea typeface="Calibri" pitchFamily="34" charset="-122"/>
                <a:cs typeface="Calibri" pitchFamily="34" charset="-120"/>
              </a:rPr>
              <a:t>Improve application preparedness</a:t>
            </a:r>
            <a:endParaRPr lang="en-US" sz="1200" dirty="0"/>
          </a:p>
        </p:txBody>
      </p:sp>
      <p:sp>
        <p:nvSpPr>
          <p:cNvPr id="50" name="Shape 36"/>
          <p:cNvSpPr/>
          <p:nvPr/>
        </p:nvSpPr>
        <p:spPr>
          <a:xfrm>
            <a:off x="8403336" y="5102352"/>
            <a:ext cx="329184" cy="329184"/>
          </a:xfrm>
          <a:prstGeom prst="ellipse">
            <a:avLst/>
          </a:prstGeom>
          <a:solidFill>
            <a:srgbClr val="16204A"/>
          </a:solidFill>
          <a:ln/>
        </p:spPr>
      </p:sp>
      <p:pic>
        <p:nvPicPr>
          <p:cNvPr id="51" name="Image 12" descr="/home/claude/icons/check_CADCFC.png">    </p:cNvPr>
          <p:cNvPicPr>
            <a:picLocks noChangeAspect="1"/>
          </p:cNvPicPr>
          <p:nvPr/>
        </p:nvPicPr>
        <p:blipFill>
          <a:blip r:embed="rId13"/>
          <a:stretch>
            <a:fillRect/>
          </a:stretch>
        </p:blipFill>
        <p:spPr>
          <a:xfrm>
            <a:off x="8477402" y="5176418"/>
            <a:ext cx="181051" cy="181051"/>
          </a:xfrm>
          <a:prstGeom prst="rect">
            <a:avLst/>
          </a:prstGeom>
        </p:spPr>
      </p:pic>
      <p:sp>
        <p:nvSpPr>
          <p:cNvPr id="52" name="Text 37"/>
          <p:cNvSpPr/>
          <p:nvPr/>
        </p:nvSpPr>
        <p:spPr>
          <a:xfrm>
            <a:off x="8842248" y="5065776"/>
            <a:ext cx="2542032" cy="566928"/>
          </a:xfrm>
          <a:prstGeom prst="rect">
            <a:avLst/>
          </a:prstGeom>
          <a:noFill/>
          <a:ln/>
        </p:spPr>
        <p:txBody>
          <a:bodyPr wrap="square" lIns="0" tIns="0" rIns="0" bIns="0" rtlCol="0" anchor="ctr"/>
          <a:lstStyle/>
          <a:p>
            <a:pPr algn="l" indent="0" marL="0">
              <a:lnSpc>
                <a:spcPct val="110000"/>
              </a:lnSpc>
              <a:buNone/>
            </a:pPr>
            <a:r>
              <a:rPr lang="en-US" sz="1200" dirty="0">
                <a:solidFill>
                  <a:srgbClr val="FFFFFF"/>
                </a:solidFill>
                <a:latin typeface="Calibri" pitchFamily="34" charset="0"/>
                <a:ea typeface="Calibri" pitchFamily="34" charset="-122"/>
                <a:cs typeface="Calibri" pitchFamily="34" charset="-120"/>
              </a:rPr>
              <a:t>Maintain centralized, updated requirements</a:t>
            </a:r>
            <a:endParaRPr lang="en-US" sz="1200" dirty="0"/>
          </a:p>
        </p:txBody>
      </p:sp>
      <p:sp>
        <p:nvSpPr>
          <p:cNvPr id="53" name="Text 3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Citizen Application Document Checklist Generator</a:t>
            </a:r>
            <a:endParaRPr lang="en-US" sz="900" dirty="0"/>
          </a:p>
        </p:txBody>
      </p:sp>
      <p:sp>
        <p:nvSpPr>
          <p:cNvPr id="54" name="Text 3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System Workflow</a:t>
            </a:r>
            <a:endParaRPr lang="en-US" sz="3000" dirty="0"/>
          </a:p>
        </p:txBody>
      </p:sp>
      <p:sp>
        <p:nvSpPr>
          <p:cNvPr id="3" name="Text 1"/>
          <p:cNvSpPr/>
          <p:nvPr/>
        </p:nvSpPr>
        <p:spPr>
          <a:xfrm>
            <a:off x="548640" y="868680"/>
            <a:ext cx="7315200" cy="32004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End-to-end process from service selection to checklist download</a:t>
            </a:r>
            <a:endParaRPr lang="en-US" sz="1300" dirty="0"/>
          </a:p>
        </p:txBody>
      </p:sp>
      <p:sp>
        <p:nvSpPr>
          <p:cNvPr id="4" name="Shape 2"/>
          <p:cNvSpPr/>
          <p:nvPr/>
        </p:nvSpPr>
        <p:spPr>
          <a:xfrm>
            <a:off x="1170432" y="2020824"/>
            <a:ext cx="0" cy="694944"/>
          </a:xfrm>
          <a:prstGeom prst="line">
            <a:avLst/>
          </a:prstGeom>
          <a:noFill/>
          <a:ln w="19050">
            <a:solidFill>
              <a:srgbClr val="D8E1F5"/>
            </a:solidFill>
            <a:prstDash val="solid"/>
          </a:ln>
        </p:spPr>
      </p:sp>
      <p:sp>
        <p:nvSpPr>
          <p:cNvPr id="5" name="Shape 3"/>
          <p:cNvSpPr/>
          <p:nvPr/>
        </p:nvSpPr>
        <p:spPr>
          <a:xfrm>
            <a:off x="914400" y="1508760"/>
            <a:ext cx="512064" cy="512064"/>
          </a:xfrm>
          <a:prstGeom prst="ellipse">
            <a:avLst/>
          </a:prstGeom>
          <a:solidFill>
            <a:srgbClr val="1E2761"/>
          </a:solidFill>
          <a:ln/>
        </p:spPr>
      </p:sp>
      <p:sp>
        <p:nvSpPr>
          <p:cNvPr id="6" name="Text 4"/>
          <p:cNvSpPr/>
          <p:nvPr/>
        </p:nvSpPr>
        <p:spPr>
          <a:xfrm>
            <a:off x="914400" y="150876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pic>
        <p:nvPicPr>
          <p:cNvPr id="7" name="Image 0" descr="/home/claude/icons/globe_3B5BDB.png">    </p:cNvPr>
          <p:cNvPicPr>
            <a:picLocks noChangeAspect="1"/>
          </p:cNvPicPr>
          <p:nvPr/>
        </p:nvPicPr>
        <p:blipFill>
          <a:blip r:embed="rId1"/>
          <a:stretch>
            <a:fillRect/>
          </a:stretch>
        </p:blipFill>
        <p:spPr>
          <a:xfrm>
            <a:off x="1572768" y="1563624"/>
            <a:ext cx="384048" cy="384048"/>
          </a:xfrm>
          <a:prstGeom prst="rect">
            <a:avLst/>
          </a:prstGeom>
        </p:spPr>
      </p:pic>
      <p:sp>
        <p:nvSpPr>
          <p:cNvPr id="8" name="Text 5"/>
          <p:cNvSpPr/>
          <p:nvPr/>
        </p:nvSpPr>
        <p:spPr>
          <a:xfrm>
            <a:off x="2084832" y="1490472"/>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Open Public Website</a:t>
            </a:r>
            <a:endParaRPr lang="en-US" sz="1230" dirty="0"/>
          </a:p>
        </p:txBody>
      </p:sp>
      <p:sp>
        <p:nvSpPr>
          <p:cNvPr id="9" name="Shape 6"/>
          <p:cNvSpPr/>
          <p:nvPr/>
        </p:nvSpPr>
        <p:spPr>
          <a:xfrm>
            <a:off x="1170432" y="2862072"/>
            <a:ext cx="0" cy="694944"/>
          </a:xfrm>
          <a:prstGeom prst="line">
            <a:avLst/>
          </a:prstGeom>
          <a:noFill/>
          <a:ln w="19050">
            <a:solidFill>
              <a:srgbClr val="D8E1F5"/>
            </a:solidFill>
            <a:prstDash val="solid"/>
          </a:ln>
        </p:spPr>
      </p:sp>
      <p:sp>
        <p:nvSpPr>
          <p:cNvPr id="10" name="Shape 7"/>
          <p:cNvSpPr/>
          <p:nvPr/>
        </p:nvSpPr>
        <p:spPr>
          <a:xfrm>
            <a:off x="914400" y="2350008"/>
            <a:ext cx="512064" cy="512064"/>
          </a:xfrm>
          <a:prstGeom prst="ellipse">
            <a:avLst/>
          </a:prstGeom>
          <a:solidFill>
            <a:srgbClr val="1E2761"/>
          </a:solidFill>
          <a:ln/>
        </p:spPr>
      </p:sp>
      <p:sp>
        <p:nvSpPr>
          <p:cNvPr id="11" name="Text 8"/>
          <p:cNvSpPr/>
          <p:nvPr/>
        </p:nvSpPr>
        <p:spPr>
          <a:xfrm>
            <a:off x="914400" y="235000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pic>
        <p:nvPicPr>
          <p:cNvPr id="12" name="Image 1" descr="/home/claude/icons/service_3B5BDB.png">    </p:cNvPr>
          <p:cNvPicPr>
            <a:picLocks noChangeAspect="1"/>
          </p:cNvPicPr>
          <p:nvPr/>
        </p:nvPicPr>
        <p:blipFill>
          <a:blip r:embed="rId2"/>
          <a:stretch>
            <a:fillRect/>
          </a:stretch>
        </p:blipFill>
        <p:spPr>
          <a:xfrm>
            <a:off x="1572768" y="2404872"/>
            <a:ext cx="384048" cy="384048"/>
          </a:xfrm>
          <a:prstGeom prst="rect">
            <a:avLst/>
          </a:prstGeom>
        </p:spPr>
      </p:pic>
      <p:sp>
        <p:nvSpPr>
          <p:cNvPr id="13" name="Text 9"/>
          <p:cNvSpPr/>
          <p:nvPr/>
        </p:nvSpPr>
        <p:spPr>
          <a:xfrm>
            <a:off x="2084832" y="2331720"/>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Select Government / Public Service</a:t>
            </a:r>
            <a:endParaRPr lang="en-US" sz="1230" dirty="0"/>
          </a:p>
        </p:txBody>
      </p:sp>
      <p:sp>
        <p:nvSpPr>
          <p:cNvPr id="14" name="Shape 10"/>
          <p:cNvSpPr/>
          <p:nvPr/>
        </p:nvSpPr>
        <p:spPr>
          <a:xfrm>
            <a:off x="1170432" y="3703320"/>
            <a:ext cx="0" cy="694944"/>
          </a:xfrm>
          <a:prstGeom prst="line">
            <a:avLst/>
          </a:prstGeom>
          <a:noFill/>
          <a:ln w="19050">
            <a:solidFill>
              <a:srgbClr val="D8E1F5"/>
            </a:solidFill>
            <a:prstDash val="solid"/>
          </a:ln>
        </p:spPr>
      </p:sp>
      <p:sp>
        <p:nvSpPr>
          <p:cNvPr id="15" name="Shape 11"/>
          <p:cNvSpPr/>
          <p:nvPr/>
        </p:nvSpPr>
        <p:spPr>
          <a:xfrm>
            <a:off x="914400" y="3191256"/>
            <a:ext cx="512064" cy="512064"/>
          </a:xfrm>
          <a:prstGeom prst="ellipse">
            <a:avLst/>
          </a:prstGeom>
          <a:solidFill>
            <a:srgbClr val="1E2761"/>
          </a:solidFill>
          <a:ln/>
        </p:spPr>
      </p:sp>
      <p:sp>
        <p:nvSpPr>
          <p:cNvPr id="16" name="Text 12"/>
          <p:cNvSpPr/>
          <p:nvPr/>
        </p:nvSpPr>
        <p:spPr>
          <a:xfrm>
            <a:off x="914400" y="319125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pic>
        <p:nvPicPr>
          <p:cNvPr id="17" name="Image 2" descr="/home/claude/icons/form_3B5BDB.png">    </p:cNvPr>
          <p:cNvPicPr>
            <a:picLocks noChangeAspect="1"/>
          </p:cNvPicPr>
          <p:nvPr/>
        </p:nvPicPr>
        <p:blipFill>
          <a:blip r:embed="rId3"/>
          <a:stretch>
            <a:fillRect/>
          </a:stretch>
        </p:blipFill>
        <p:spPr>
          <a:xfrm>
            <a:off x="1572768" y="3246120"/>
            <a:ext cx="384048" cy="384048"/>
          </a:xfrm>
          <a:prstGeom prst="rect">
            <a:avLst/>
          </a:prstGeom>
        </p:spPr>
      </p:pic>
      <p:sp>
        <p:nvSpPr>
          <p:cNvPr id="18" name="Text 13"/>
          <p:cNvSpPr/>
          <p:nvPr/>
        </p:nvSpPr>
        <p:spPr>
          <a:xfrm>
            <a:off x="2084832" y="3172968"/>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Enter Relevant Applicant Information</a:t>
            </a:r>
            <a:endParaRPr lang="en-US" sz="1230" dirty="0"/>
          </a:p>
        </p:txBody>
      </p:sp>
      <p:sp>
        <p:nvSpPr>
          <p:cNvPr id="19" name="Shape 14"/>
          <p:cNvSpPr/>
          <p:nvPr/>
        </p:nvSpPr>
        <p:spPr>
          <a:xfrm>
            <a:off x="1170432" y="4544568"/>
            <a:ext cx="0" cy="694944"/>
          </a:xfrm>
          <a:prstGeom prst="line">
            <a:avLst/>
          </a:prstGeom>
          <a:noFill/>
          <a:ln w="19050">
            <a:solidFill>
              <a:srgbClr val="D8E1F5"/>
            </a:solidFill>
            <a:prstDash val="solid"/>
          </a:ln>
        </p:spPr>
      </p:sp>
      <p:sp>
        <p:nvSpPr>
          <p:cNvPr id="20" name="Shape 15"/>
          <p:cNvSpPr/>
          <p:nvPr/>
        </p:nvSpPr>
        <p:spPr>
          <a:xfrm>
            <a:off x="914400" y="4032504"/>
            <a:ext cx="512064" cy="512064"/>
          </a:xfrm>
          <a:prstGeom prst="ellipse">
            <a:avLst/>
          </a:prstGeom>
          <a:solidFill>
            <a:srgbClr val="1E2761"/>
          </a:solidFill>
          <a:ln/>
        </p:spPr>
      </p:sp>
      <p:sp>
        <p:nvSpPr>
          <p:cNvPr id="21" name="Text 16"/>
          <p:cNvSpPr/>
          <p:nvPr/>
        </p:nvSpPr>
        <p:spPr>
          <a:xfrm>
            <a:off x="914400" y="403250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22" name="Image 3" descr="/home/claude/icons/question_3B5BDB.png">    </p:cNvPr>
          <p:cNvPicPr>
            <a:picLocks noChangeAspect="1"/>
          </p:cNvPicPr>
          <p:nvPr/>
        </p:nvPicPr>
        <p:blipFill>
          <a:blip r:embed="rId4"/>
          <a:stretch>
            <a:fillRect/>
          </a:stretch>
        </p:blipFill>
        <p:spPr>
          <a:xfrm>
            <a:off x="1572768" y="4087368"/>
            <a:ext cx="384048" cy="384048"/>
          </a:xfrm>
          <a:prstGeom prst="rect">
            <a:avLst/>
          </a:prstGeom>
        </p:spPr>
      </p:pic>
      <p:sp>
        <p:nvSpPr>
          <p:cNvPr id="23" name="Text 17"/>
          <p:cNvSpPr/>
          <p:nvPr/>
        </p:nvSpPr>
        <p:spPr>
          <a:xfrm>
            <a:off x="2084832" y="4014216"/>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Answer Dynamic Service-Specific Questions</a:t>
            </a:r>
            <a:endParaRPr lang="en-US" sz="1230" dirty="0"/>
          </a:p>
        </p:txBody>
      </p:sp>
      <p:sp>
        <p:nvSpPr>
          <p:cNvPr id="24" name="Shape 18"/>
          <p:cNvSpPr/>
          <p:nvPr/>
        </p:nvSpPr>
        <p:spPr>
          <a:xfrm>
            <a:off x="914400" y="4873752"/>
            <a:ext cx="512064" cy="512064"/>
          </a:xfrm>
          <a:prstGeom prst="ellipse">
            <a:avLst/>
          </a:prstGeom>
          <a:solidFill>
            <a:srgbClr val="1E2761"/>
          </a:solidFill>
          <a:ln/>
        </p:spPr>
      </p:sp>
      <p:sp>
        <p:nvSpPr>
          <p:cNvPr id="25" name="Text 19"/>
          <p:cNvSpPr/>
          <p:nvPr/>
        </p:nvSpPr>
        <p:spPr>
          <a:xfrm>
            <a:off x="914400" y="48737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pic>
        <p:nvPicPr>
          <p:cNvPr id="26" name="Image 4" descr="/home/claude/icons/gear_3B5BDB.png">    </p:cNvPr>
          <p:cNvPicPr>
            <a:picLocks noChangeAspect="1"/>
          </p:cNvPicPr>
          <p:nvPr/>
        </p:nvPicPr>
        <p:blipFill>
          <a:blip r:embed="rId5"/>
          <a:stretch>
            <a:fillRect/>
          </a:stretch>
        </p:blipFill>
        <p:spPr>
          <a:xfrm>
            <a:off x="1572768" y="4928616"/>
            <a:ext cx="384048" cy="384048"/>
          </a:xfrm>
          <a:prstGeom prst="rect">
            <a:avLst/>
          </a:prstGeom>
        </p:spPr>
      </p:pic>
      <p:sp>
        <p:nvSpPr>
          <p:cNvPr id="27" name="Text 20"/>
          <p:cNvSpPr/>
          <p:nvPr/>
        </p:nvSpPr>
        <p:spPr>
          <a:xfrm>
            <a:off x="2084832" y="4855464"/>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Requirement Analysis</a:t>
            </a:r>
            <a:endParaRPr lang="en-US" sz="1230" dirty="0"/>
          </a:p>
        </p:txBody>
      </p:sp>
      <p:sp>
        <p:nvSpPr>
          <p:cNvPr id="28" name="Shape 21"/>
          <p:cNvSpPr/>
          <p:nvPr/>
        </p:nvSpPr>
        <p:spPr>
          <a:xfrm>
            <a:off x="6702552" y="2020824"/>
            <a:ext cx="0" cy="694944"/>
          </a:xfrm>
          <a:prstGeom prst="line">
            <a:avLst/>
          </a:prstGeom>
          <a:noFill/>
          <a:ln w="19050">
            <a:solidFill>
              <a:srgbClr val="D8E1F5"/>
            </a:solidFill>
            <a:prstDash val="solid"/>
          </a:ln>
        </p:spPr>
      </p:sp>
      <p:sp>
        <p:nvSpPr>
          <p:cNvPr id="29" name="Shape 22"/>
          <p:cNvSpPr/>
          <p:nvPr/>
        </p:nvSpPr>
        <p:spPr>
          <a:xfrm>
            <a:off x="6446520" y="1508760"/>
            <a:ext cx="512064" cy="512064"/>
          </a:xfrm>
          <a:prstGeom prst="ellipse">
            <a:avLst/>
          </a:prstGeom>
          <a:solidFill>
            <a:srgbClr val="1E2761"/>
          </a:solidFill>
          <a:ln/>
        </p:spPr>
      </p:sp>
      <p:sp>
        <p:nvSpPr>
          <p:cNvPr id="30" name="Text 23"/>
          <p:cNvSpPr/>
          <p:nvPr/>
        </p:nvSpPr>
        <p:spPr>
          <a:xfrm>
            <a:off x="6446520" y="150876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31" name="Image 5" descr="/home/claude/icons/layers_3B5BDB.png">    </p:cNvPr>
          <p:cNvPicPr>
            <a:picLocks noChangeAspect="1"/>
          </p:cNvPicPr>
          <p:nvPr/>
        </p:nvPicPr>
        <p:blipFill>
          <a:blip r:embed="rId6"/>
          <a:stretch>
            <a:fillRect/>
          </a:stretch>
        </p:blipFill>
        <p:spPr>
          <a:xfrm>
            <a:off x="7104888" y="1563624"/>
            <a:ext cx="384048" cy="384048"/>
          </a:xfrm>
          <a:prstGeom prst="rect">
            <a:avLst/>
          </a:prstGeom>
        </p:spPr>
      </p:pic>
      <p:sp>
        <p:nvSpPr>
          <p:cNvPr id="32" name="Text 24"/>
          <p:cNvSpPr/>
          <p:nvPr/>
        </p:nvSpPr>
        <p:spPr>
          <a:xfrm>
            <a:off x="7616952" y="1490472"/>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Apply Configured Requirement Rules</a:t>
            </a:r>
            <a:endParaRPr lang="en-US" sz="1230" dirty="0"/>
          </a:p>
        </p:txBody>
      </p:sp>
      <p:sp>
        <p:nvSpPr>
          <p:cNvPr id="33" name="Shape 25"/>
          <p:cNvSpPr/>
          <p:nvPr/>
        </p:nvSpPr>
        <p:spPr>
          <a:xfrm>
            <a:off x="6702552" y="2862072"/>
            <a:ext cx="0" cy="694944"/>
          </a:xfrm>
          <a:prstGeom prst="line">
            <a:avLst/>
          </a:prstGeom>
          <a:noFill/>
          <a:ln w="19050">
            <a:solidFill>
              <a:srgbClr val="D8E1F5"/>
            </a:solidFill>
            <a:prstDash val="solid"/>
          </a:ln>
        </p:spPr>
      </p:sp>
      <p:sp>
        <p:nvSpPr>
          <p:cNvPr id="34" name="Shape 26"/>
          <p:cNvSpPr/>
          <p:nvPr/>
        </p:nvSpPr>
        <p:spPr>
          <a:xfrm>
            <a:off x="6446520" y="2350008"/>
            <a:ext cx="512064" cy="512064"/>
          </a:xfrm>
          <a:prstGeom prst="ellipse">
            <a:avLst/>
          </a:prstGeom>
          <a:solidFill>
            <a:srgbClr val="1E2761"/>
          </a:solidFill>
          <a:ln/>
        </p:spPr>
      </p:sp>
      <p:sp>
        <p:nvSpPr>
          <p:cNvPr id="35" name="Text 27"/>
          <p:cNvSpPr/>
          <p:nvPr/>
        </p:nvSpPr>
        <p:spPr>
          <a:xfrm>
            <a:off x="6446520" y="235000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pic>
        <p:nvPicPr>
          <p:cNvPr id="36" name="Image 6" descr="/home/claude/icons/checklist_3B5BDB.png">    </p:cNvPr>
          <p:cNvPicPr>
            <a:picLocks noChangeAspect="1"/>
          </p:cNvPicPr>
          <p:nvPr/>
        </p:nvPicPr>
        <p:blipFill>
          <a:blip r:embed="rId7"/>
          <a:stretch>
            <a:fillRect/>
          </a:stretch>
        </p:blipFill>
        <p:spPr>
          <a:xfrm>
            <a:off x="7104888" y="2404872"/>
            <a:ext cx="384048" cy="384048"/>
          </a:xfrm>
          <a:prstGeom prst="rect">
            <a:avLst/>
          </a:prstGeom>
        </p:spPr>
      </p:pic>
      <p:sp>
        <p:nvSpPr>
          <p:cNvPr id="37" name="Text 28"/>
          <p:cNvSpPr/>
          <p:nvPr/>
        </p:nvSpPr>
        <p:spPr>
          <a:xfrm>
            <a:off x="7616952" y="2331720"/>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Generate Personalized Checklist</a:t>
            </a:r>
            <a:endParaRPr lang="en-US" sz="1230" dirty="0"/>
          </a:p>
        </p:txBody>
      </p:sp>
      <p:sp>
        <p:nvSpPr>
          <p:cNvPr id="38" name="Shape 29"/>
          <p:cNvSpPr/>
          <p:nvPr/>
        </p:nvSpPr>
        <p:spPr>
          <a:xfrm>
            <a:off x="6702552" y="3703320"/>
            <a:ext cx="0" cy="694944"/>
          </a:xfrm>
          <a:prstGeom prst="line">
            <a:avLst/>
          </a:prstGeom>
          <a:noFill/>
          <a:ln w="19050">
            <a:solidFill>
              <a:srgbClr val="D8E1F5"/>
            </a:solidFill>
            <a:prstDash val="solid"/>
          </a:ln>
        </p:spPr>
      </p:sp>
      <p:sp>
        <p:nvSpPr>
          <p:cNvPr id="39" name="Shape 30"/>
          <p:cNvSpPr/>
          <p:nvPr/>
        </p:nvSpPr>
        <p:spPr>
          <a:xfrm>
            <a:off x="6446520" y="3191256"/>
            <a:ext cx="512064" cy="512064"/>
          </a:xfrm>
          <a:prstGeom prst="ellipse">
            <a:avLst/>
          </a:prstGeom>
          <a:solidFill>
            <a:srgbClr val="1E2761"/>
          </a:solidFill>
          <a:ln/>
        </p:spPr>
      </p:sp>
      <p:sp>
        <p:nvSpPr>
          <p:cNvPr id="40" name="Text 31"/>
          <p:cNvSpPr/>
          <p:nvPr/>
        </p:nvSpPr>
        <p:spPr>
          <a:xfrm>
            <a:off x="6446520" y="319125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pic>
        <p:nvPicPr>
          <p:cNvPr id="41" name="Image 7" descr="/home/claude/icons/eye_3B5BDB.png">    </p:cNvPr>
          <p:cNvPicPr>
            <a:picLocks noChangeAspect="1"/>
          </p:cNvPicPr>
          <p:nvPr/>
        </p:nvPicPr>
        <p:blipFill>
          <a:blip r:embed="rId8"/>
          <a:stretch>
            <a:fillRect/>
          </a:stretch>
        </p:blipFill>
        <p:spPr>
          <a:xfrm>
            <a:off x="7104888" y="3246120"/>
            <a:ext cx="384048" cy="384048"/>
          </a:xfrm>
          <a:prstGeom prst="rect">
            <a:avLst/>
          </a:prstGeom>
        </p:spPr>
      </p:pic>
      <p:sp>
        <p:nvSpPr>
          <p:cNvPr id="42" name="Text 32"/>
          <p:cNvSpPr/>
          <p:nvPr/>
        </p:nvSpPr>
        <p:spPr>
          <a:xfrm>
            <a:off x="7616952" y="3172968"/>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Review Required / Conditional / Optional / Missing</a:t>
            </a:r>
            <a:endParaRPr lang="en-US" sz="1230" dirty="0"/>
          </a:p>
        </p:txBody>
      </p:sp>
      <p:sp>
        <p:nvSpPr>
          <p:cNvPr id="43" name="Shape 33"/>
          <p:cNvSpPr/>
          <p:nvPr/>
        </p:nvSpPr>
        <p:spPr>
          <a:xfrm>
            <a:off x="6446520" y="4032504"/>
            <a:ext cx="512064" cy="512064"/>
          </a:xfrm>
          <a:prstGeom prst="ellipse">
            <a:avLst/>
          </a:prstGeom>
          <a:solidFill>
            <a:srgbClr val="1E2761"/>
          </a:solidFill>
          <a:ln/>
        </p:spPr>
      </p:sp>
      <p:sp>
        <p:nvSpPr>
          <p:cNvPr id="44" name="Text 34"/>
          <p:cNvSpPr/>
          <p:nvPr/>
        </p:nvSpPr>
        <p:spPr>
          <a:xfrm>
            <a:off x="6446520" y="403250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pic>
        <p:nvPicPr>
          <p:cNvPr id="45" name="Image 8" descr="/home/claude/icons/download_3B5BDB.png">    </p:cNvPr>
          <p:cNvPicPr>
            <a:picLocks noChangeAspect="1"/>
          </p:cNvPicPr>
          <p:nvPr/>
        </p:nvPicPr>
        <p:blipFill>
          <a:blip r:embed="rId9"/>
          <a:stretch>
            <a:fillRect/>
          </a:stretch>
        </p:blipFill>
        <p:spPr>
          <a:xfrm>
            <a:off x="7104888" y="4087368"/>
            <a:ext cx="384048" cy="384048"/>
          </a:xfrm>
          <a:prstGeom prst="rect">
            <a:avLst/>
          </a:prstGeom>
        </p:spPr>
      </p:pic>
      <p:sp>
        <p:nvSpPr>
          <p:cNvPr id="46" name="Text 35"/>
          <p:cNvSpPr/>
          <p:nvPr/>
        </p:nvSpPr>
        <p:spPr>
          <a:xfrm>
            <a:off x="7616952" y="4014216"/>
            <a:ext cx="3566160" cy="548640"/>
          </a:xfrm>
          <a:prstGeom prst="rect">
            <a:avLst/>
          </a:prstGeom>
          <a:noFill/>
          <a:ln/>
        </p:spPr>
        <p:txBody>
          <a:bodyPr wrap="square" lIns="0" tIns="0" rIns="0" bIns="0" rtlCol="0" anchor="ctr"/>
          <a:lstStyle/>
          <a:p>
            <a:pPr algn="l" indent="0" marL="0">
              <a:lnSpc>
                <a:spcPct val="105000"/>
              </a:lnSpc>
              <a:buNone/>
            </a:pPr>
            <a:r>
              <a:rPr lang="en-US" sz="1230" b="1" dirty="0">
                <a:solidFill>
                  <a:srgbClr val="1B2440"/>
                </a:solidFill>
                <a:latin typeface="Calibri" pitchFamily="34" charset="0"/>
                <a:ea typeface="Calibri" pitchFamily="34" charset="-122"/>
                <a:cs typeface="Calibri" pitchFamily="34" charset="-120"/>
              </a:rPr>
              <a:t>Download or Print Checklist</a:t>
            </a:r>
            <a:endParaRPr lang="en-US" sz="1230" dirty="0"/>
          </a:p>
        </p:txBody>
      </p:sp>
      <p:sp>
        <p:nvSpPr>
          <p:cNvPr id="47" name="Shape 36"/>
          <p:cNvSpPr/>
          <p:nvPr/>
        </p:nvSpPr>
        <p:spPr>
          <a:xfrm>
            <a:off x="914400" y="5596128"/>
            <a:ext cx="4937760" cy="566928"/>
          </a:xfrm>
          <a:prstGeom prst="roundRect">
            <a:avLst>
              <a:gd name="adj" fmla="val 12903"/>
            </a:avLst>
          </a:prstGeom>
          <a:solidFill>
            <a:srgbClr val="F3F6FC"/>
          </a:solidFill>
          <a:ln/>
        </p:spPr>
      </p:sp>
      <p:pic>
        <p:nvPicPr>
          <p:cNvPr id="48" name="Image 9" descr="/home/claude/icons/citizens_1E2761.png">    </p:cNvPr>
          <p:cNvPicPr>
            <a:picLocks noChangeAspect="1"/>
          </p:cNvPicPr>
          <p:nvPr/>
        </p:nvPicPr>
        <p:blipFill>
          <a:blip r:embed="rId10"/>
          <a:stretch>
            <a:fillRect/>
          </a:stretch>
        </p:blipFill>
        <p:spPr>
          <a:xfrm>
            <a:off x="1078992" y="5733288"/>
            <a:ext cx="292608" cy="292608"/>
          </a:xfrm>
          <a:prstGeom prst="rect">
            <a:avLst/>
          </a:prstGeom>
        </p:spPr>
      </p:pic>
      <p:sp>
        <p:nvSpPr>
          <p:cNvPr id="49" name="Text 37"/>
          <p:cNvSpPr/>
          <p:nvPr/>
        </p:nvSpPr>
        <p:spPr>
          <a:xfrm>
            <a:off x="1481328" y="5596128"/>
            <a:ext cx="4206240" cy="56692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Citizen: No Login Required</a:t>
            </a:r>
            <a:endParaRPr lang="en-US" sz="1250" dirty="0"/>
          </a:p>
        </p:txBody>
      </p:sp>
      <p:sp>
        <p:nvSpPr>
          <p:cNvPr id="50" name="Shape 38"/>
          <p:cNvSpPr/>
          <p:nvPr/>
        </p:nvSpPr>
        <p:spPr>
          <a:xfrm>
            <a:off x="6446520" y="5596128"/>
            <a:ext cx="4937760" cy="566928"/>
          </a:xfrm>
          <a:prstGeom prst="roundRect">
            <a:avLst>
              <a:gd name="adj" fmla="val 12903"/>
            </a:avLst>
          </a:prstGeom>
          <a:solidFill>
            <a:srgbClr val="F3F6FC"/>
          </a:solidFill>
          <a:ln/>
        </p:spPr>
      </p:sp>
      <p:pic>
        <p:nvPicPr>
          <p:cNvPr id="51" name="Image 10" descr="/home/claude/icons/admin_1E2761.png">    </p:cNvPr>
          <p:cNvPicPr>
            <a:picLocks noChangeAspect="1"/>
          </p:cNvPicPr>
          <p:nvPr/>
        </p:nvPicPr>
        <p:blipFill>
          <a:blip r:embed="rId11"/>
          <a:stretch>
            <a:fillRect/>
          </a:stretch>
        </p:blipFill>
        <p:spPr>
          <a:xfrm>
            <a:off x="6611112" y="5733288"/>
            <a:ext cx="292608" cy="292608"/>
          </a:xfrm>
          <a:prstGeom prst="rect">
            <a:avLst/>
          </a:prstGeom>
        </p:spPr>
      </p:pic>
      <p:sp>
        <p:nvSpPr>
          <p:cNvPr id="52" name="Text 39"/>
          <p:cNvSpPr/>
          <p:nvPr/>
        </p:nvSpPr>
        <p:spPr>
          <a:xfrm>
            <a:off x="7013448" y="5596128"/>
            <a:ext cx="4206240" cy="566928"/>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Admin: Login Used Only for Management</a:t>
            </a:r>
            <a:endParaRPr lang="en-US" sz="1250" dirty="0"/>
          </a:p>
        </p:txBody>
      </p:sp>
      <p:sp>
        <p:nvSpPr>
          <p:cNvPr id="53" name="Text 4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Citizen Application Document Checklist Generator</a:t>
            </a:r>
            <a:endParaRPr lang="en-US" sz="900" dirty="0"/>
          </a:p>
        </p:txBody>
      </p:sp>
      <p:sp>
        <p:nvSpPr>
          <p:cNvPr id="54" name="Text 4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System Modules</a:t>
            </a:r>
            <a:endParaRPr lang="en-US" sz="3000" dirty="0"/>
          </a:p>
        </p:txBody>
      </p:sp>
      <p:sp>
        <p:nvSpPr>
          <p:cNvPr id="3" name="Text 1"/>
          <p:cNvSpPr/>
          <p:nvPr/>
        </p:nvSpPr>
        <p:spPr>
          <a:xfrm>
            <a:off x="548640" y="868680"/>
            <a:ext cx="8229600" cy="320040"/>
          </a:xfrm>
          <a:prstGeom prst="rect">
            <a:avLst/>
          </a:prstGeom>
          <a:noFill/>
          <a:ln/>
        </p:spPr>
        <p:txBody>
          <a:bodyPr wrap="square" lIns="0" tIns="0" rIns="0" bIns="0" rtlCol="0" anchor="ctr"/>
          <a:lstStyle/>
          <a:p>
            <a:pPr indent="0" marL="0">
              <a:buNone/>
            </a:pPr>
            <a:r>
              <a:rPr lang="en-US" sz="1300" i="1" dirty="0">
                <a:solidFill>
                  <a:srgbClr val="5C6B8A"/>
                </a:solidFill>
                <a:latin typeface="Calibri" pitchFamily="34" charset="0"/>
                <a:ea typeface="Calibri" pitchFamily="34" charset="-122"/>
                <a:cs typeface="Calibri" pitchFamily="34" charset="-120"/>
              </a:rPr>
              <a:t>Public-facing capabilities and secure administrative management</a:t>
            </a:r>
            <a:endParaRPr lang="en-US" sz="1300" dirty="0"/>
          </a:p>
        </p:txBody>
      </p:sp>
      <p:sp>
        <p:nvSpPr>
          <p:cNvPr id="4" name="Shape 2"/>
          <p:cNvSpPr/>
          <p:nvPr/>
        </p:nvSpPr>
        <p:spPr>
          <a:xfrm>
            <a:off x="548640" y="1463040"/>
            <a:ext cx="5486400" cy="4754880"/>
          </a:xfrm>
          <a:prstGeom prst="roundRect">
            <a:avLst>
              <a:gd name="adj" fmla="val 1923"/>
            </a:avLst>
          </a:prstGeom>
          <a:solidFill>
            <a:srgbClr val="F3F6FC"/>
          </a:solidFill>
          <a:ln/>
        </p:spPr>
      </p:sp>
      <p:sp>
        <p:nvSpPr>
          <p:cNvPr id="5" name="Shape 3"/>
          <p:cNvSpPr/>
          <p:nvPr/>
        </p:nvSpPr>
        <p:spPr>
          <a:xfrm>
            <a:off x="822960" y="1581912"/>
            <a:ext cx="457200" cy="457200"/>
          </a:xfrm>
          <a:prstGeom prst="ellipse">
            <a:avLst/>
          </a:prstGeom>
          <a:solidFill>
            <a:srgbClr val="FFFFFF"/>
          </a:solidFill>
          <a:ln/>
        </p:spPr>
      </p:sp>
      <p:pic>
        <p:nvPicPr>
          <p:cNvPr id="6" name="Image 0" descr="/home/claude/icons/citizens_1E2761.png">    </p:cNvPr>
          <p:cNvPicPr>
            <a:picLocks noChangeAspect="1"/>
          </p:cNvPicPr>
          <p:nvPr/>
        </p:nvPicPr>
        <p:blipFill>
          <a:blip r:embed="rId1"/>
          <a:stretch>
            <a:fillRect/>
          </a:stretch>
        </p:blipFill>
        <p:spPr>
          <a:xfrm>
            <a:off x="925830" y="1684782"/>
            <a:ext cx="251460" cy="251460"/>
          </a:xfrm>
          <a:prstGeom prst="rect">
            <a:avLst/>
          </a:prstGeom>
        </p:spPr>
      </p:pic>
      <p:sp>
        <p:nvSpPr>
          <p:cNvPr id="7" name="Text 4"/>
          <p:cNvSpPr/>
          <p:nvPr/>
        </p:nvSpPr>
        <p:spPr>
          <a:xfrm>
            <a:off x="1417320" y="1581912"/>
            <a:ext cx="4389120" cy="457200"/>
          </a:xfrm>
          <a:prstGeom prst="rect">
            <a:avLst/>
          </a:prstGeom>
          <a:noFill/>
          <a:ln/>
        </p:spPr>
        <p:txBody>
          <a:bodyPr wrap="square" lIns="0" tIns="0" rIns="0" bIns="0" rtlCol="0" anchor="ctr"/>
          <a:lstStyle/>
          <a:p>
            <a:pPr algn="l" indent="0" marL="0">
              <a:buNone/>
            </a:pPr>
            <a:r>
              <a:rPr lang="en-US" sz="1500" b="1" dirty="0">
                <a:solidFill>
                  <a:srgbClr val="1B2440"/>
                </a:solidFill>
                <a:latin typeface="Cambria" pitchFamily="34" charset="0"/>
                <a:ea typeface="Cambria" pitchFamily="34" charset="-122"/>
                <a:cs typeface="Cambria" pitchFamily="34" charset="-120"/>
              </a:rPr>
              <a:t>Public User Modules</a:t>
            </a:r>
            <a:endParaRPr lang="en-US" sz="1500" dirty="0"/>
          </a:p>
        </p:txBody>
      </p:sp>
      <p:pic>
        <p:nvPicPr>
          <p:cNvPr id="8" name="Image 1" descr="/home/claude/icons/check_1E2761.png">    </p:cNvPr>
          <p:cNvPicPr>
            <a:picLocks noChangeAspect="1"/>
          </p:cNvPicPr>
          <p:nvPr/>
        </p:nvPicPr>
        <p:blipFill>
          <a:blip r:embed="rId2"/>
          <a:stretch>
            <a:fillRect/>
          </a:stretch>
        </p:blipFill>
        <p:spPr>
          <a:xfrm>
            <a:off x="841248" y="2353056"/>
            <a:ext cx="182880" cy="182880"/>
          </a:xfrm>
          <a:prstGeom prst="rect">
            <a:avLst/>
          </a:prstGeom>
        </p:spPr>
      </p:pic>
      <p:sp>
        <p:nvSpPr>
          <p:cNvPr id="9" name="Text 5"/>
          <p:cNvSpPr/>
          <p:nvPr/>
        </p:nvSpPr>
        <p:spPr>
          <a:xfrm>
            <a:off x="1115568" y="2212848"/>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Public Access</a:t>
            </a:r>
            <a:endParaRPr lang="en-US" sz="1200" dirty="0"/>
          </a:p>
        </p:txBody>
      </p:sp>
      <p:pic>
        <p:nvPicPr>
          <p:cNvPr id="10" name="Image 2" descr="/home/claude/icons/check_1E2761.png">    </p:cNvPr>
          <p:cNvPicPr>
            <a:picLocks noChangeAspect="1"/>
          </p:cNvPicPr>
          <p:nvPr/>
        </p:nvPicPr>
        <p:blipFill>
          <a:blip r:embed="rId3"/>
          <a:stretch>
            <a:fillRect/>
          </a:stretch>
        </p:blipFill>
        <p:spPr>
          <a:xfrm>
            <a:off x="841248" y="2798064"/>
            <a:ext cx="182880" cy="182880"/>
          </a:xfrm>
          <a:prstGeom prst="rect">
            <a:avLst/>
          </a:prstGeom>
        </p:spPr>
      </p:pic>
      <p:sp>
        <p:nvSpPr>
          <p:cNvPr id="11" name="Text 6"/>
          <p:cNvSpPr/>
          <p:nvPr/>
        </p:nvSpPr>
        <p:spPr>
          <a:xfrm>
            <a:off x="1115568" y="2657856"/>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Service Selection</a:t>
            </a:r>
            <a:endParaRPr lang="en-US" sz="1200" dirty="0"/>
          </a:p>
        </p:txBody>
      </p:sp>
      <p:pic>
        <p:nvPicPr>
          <p:cNvPr id="12" name="Image 3" descr="/home/claude/icons/check_1E2761.png">    </p:cNvPr>
          <p:cNvPicPr>
            <a:picLocks noChangeAspect="1"/>
          </p:cNvPicPr>
          <p:nvPr/>
        </p:nvPicPr>
        <p:blipFill>
          <a:blip r:embed="rId4"/>
          <a:stretch>
            <a:fillRect/>
          </a:stretch>
        </p:blipFill>
        <p:spPr>
          <a:xfrm>
            <a:off x="841248" y="3243072"/>
            <a:ext cx="182880" cy="182880"/>
          </a:xfrm>
          <a:prstGeom prst="rect">
            <a:avLst/>
          </a:prstGeom>
        </p:spPr>
      </p:pic>
      <p:sp>
        <p:nvSpPr>
          <p:cNvPr id="13" name="Text 7"/>
          <p:cNvSpPr/>
          <p:nvPr/>
        </p:nvSpPr>
        <p:spPr>
          <a:xfrm>
            <a:off x="1115568" y="3102864"/>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Applicant Information</a:t>
            </a:r>
            <a:endParaRPr lang="en-US" sz="1200" dirty="0"/>
          </a:p>
        </p:txBody>
      </p:sp>
      <p:pic>
        <p:nvPicPr>
          <p:cNvPr id="14" name="Image 4" descr="/home/claude/icons/check_1E2761.png">    </p:cNvPr>
          <p:cNvPicPr>
            <a:picLocks noChangeAspect="1"/>
          </p:cNvPicPr>
          <p:nvPr/>
        </p:nvPicPr>
        <p:blipFill>
          <a:blip r:embed="rId5"/>
          <a:stretch>
            <a:fillRect/>
          </a:stretch>
        </p:blipFill>
        <p:spPr>
          <a:xfrm>
            <a:off x="841248" y="3688080"/>
            <a:ext cx="182880" cy="182880"/>
          </a:xfrm>
          <a:prstGeom prst="rect">
            <a:avLst/>
          </a:prstGeom>
        </p:spPr>
      </p:pic>
      <p:sp>
        <p:nvSpPr>
          <p:cNvPr id="15" name="Text 8"/>
          <p:cNvSpPr/>
          <p:nvPr/>
        </p:nvSpPr>
        <p:spPr>
          <a:xfrm>
            <a:off x="1115568" y="3547872"/>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Dynamic Questions</a:t>
            </a:r>
            <a:endParaRPr lang="en-US" sz="1200" dirty="0"/>
          </a:p>
        </p:txBody>
      </p:sp>
      <p:pic>
        <p:nvPicPr>
          <p:cNvPr id="16" name="Image 5" descr="/home/claude/icons/check_1E2761.png">    </p:cNvPr>
          <p:cNvPicPr>
            <a:picLocks noChangeAspect="1"/>
          </p:cNvPicPr>
          <p:nvPr/>
        </p:nvPicPr>
        <p:blipFill>
          <a:blip r:embed="rId6"/>
          <a:stretch>
            <a:fillRect/>
          </a:stretch>
        </p:blipFill>
        <p:spPr>
          <a:xfrm>
            <a:off x="841248" y="4133088"/>
            <a:ext cx="182880" cy="182880"/>
          </a:xfrm>
          <a:prstGeom prst="rect">
            <a:avLst/>
          </a:prstGeom>
        </p:spPr>
      </p:pic>
      <p:sp>
        <p:nvSpPr>
          <p:cNvPr id="17" name="Text 9"/>
          <p:cNvSpPr/>
          <p:nvPr/>
        </p:nvSpPr>
        <p:spPr>
          <a:xfrm>
            <a:off x="1115568" y="3992880"/>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Requirement Analysis</a:t>
            </a:r>
            <a:endParaRPr lang="en-US" sz="1200" dirty="0"/>
          </a:p>
        </p:txBody>
      </p:sp>
      <p:pic>
        <p:nvPicPr>
          <p:cNvPr id="18" name="Image 6" descr="/home/claude/icons/check_1E2761.png">    </p:cNvPr>
          <p:cNvPicPr>
            <a:picLocks noChangeAspect="1"/>
          </p:cNvPicPr>
          <p:nvPr/>
        </p:nvPicPr>
        <p:blipFill>
          <a:blip r:embed="rId7"/>
          <a:stretch>
            <a:fillRect/>
          </a:stretch>
        </p:blipFill>
        <p:spPr>
          <a:xfrm>
            <a:off x="841248" y="4578096"/>
            <a:ext cx="182880" cy="182880"/>
          </a:xfrm>
          <a:prstGeom prst="rect">
            <a:avLst/>
          </a:prstGeom>
        </p:spPr>
      </p:pic>
      <p:sp>
        <p:nvSpPr>
          <p:cNvPr id="19" name="Text 10"/>
          <p:cNvSpPr/>
          <p:nvPr/>
        </p:nvSpPr>
        <p:spPr>
          <a:xfrm>
            <a:off x="1115568" y="4437888"/>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Document Requirement Engine</a:t>
            </a:r>
            <a:endParaRPr lang="en-US" sz="1200" dirty="0"/>
          </a:p>
        </p:txBody>
      </p:sp>
      <p:pic>
        <p:nvPicPr>
          <p:cNvPr id="20" name="Image 7" descr="/home/claude/icons/check_1E2761.png">    </p:cNvPr>
          <p:cNvPicPr>
            <a:picLocks noChangeAspect="1"/>
          </p:cNvPicPr>
          <p:nvPr/>
        </p:nvPicPr>
        <p:blipFill>
          <a:blip r:embed="rId8"/>
          <a:stretch>
            <a:fillRect/>
          </a:stretch>
        </p:blipFill>
        <p:spPr>
          <a:xfrm>
            <a:off x="841248" y="5023104"/>
            <a:ext cx="182880" cy="182880"/>
          </a:xfrm>
          <a:prstGeom prst="rect">
            <a:avLst/>
          </a:prstGeom>
        </p:spPr>
      </p:pic>
      <p:sp>
        <p:nvSpPr>
          <p:cNvPr id="21" name="Text 11"/>
          <p:cNvSpPr/>
          <p:nvPr/>
        </p:nvSpPr>
        <p:spPr>
          <a:xfrm>
            <a:off x="1115568" y="4882896"/>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Personalized Checklist Generator</a:t>
            </a:r>
            <a:endParaRPr lang="en-US" sz="1200" dirty="0"/>
          </a:p>
        </p:txBody>
      </p:sp>
      <p:pic>
        <p:nvPicPr>
          <p:cNvPr id="22" name="Image 8" descr="/home/claude/icons/check_1E2761.png">    </p:cNvPr>
          <p:cNvPicPr>
            <a:picLocks noChangeAspect="1"/>
          </p:cNvPicPr>
          <p:nvPr/>
        </p:nvPicPr>
        <p:blipFill>
          <a:blip r:embed="rId9"/>
          <a:stretch>
            <a:fillRect/>
          </a:stretch>
        </p:blipFill>
        <p:spPr>
          <a:xfrm>
            <a:off x="841248" y="5468112"/>
            <a:ext cx="182880" cy="182880"/>
          </a:xfrm>
          <a:prstGeom prst="rect">
            <a:avLst/>
          </a:prstGeom>
        </p:spPr>
      </p:pic>
      <p:sp>
        <p:nvSpPr>
          <p:cNvPr id="23" name="Text 12"/>
          <p:cNvSpPr/>
          <p:nvPr/>
        </p:nvSpPr>
        <p:spPr>
          <a:xfrm>
            <a:off x="1115568" y="5327904"/>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Checklist Display</a:t>
            </a:r>
            <a:endParaRPr lang="en-US" sz="1200" dirty="0"/>
          </a:p>
        </p:txBody>
      </p:sp>
      <p:pic>
        <p:nvPicPr>
          <p:cNvPr id="24" name="Image 9" descr="/home/claude/icons/check_1E2761.png">    </p:cNvPr>
          <p:cNvPicPr>
            <a:picLocks noChangeAspect="1"/>
          </p:cNvPicPr>
          <p:nvPr/>
        </p:nvPicPr>
        <p:blipFill>
          <a:blip r:embed="rId10"/>
          <a:stretch>
            <a:fillRect/>
          </a:stretch>
        </p:blipFill>
        <p:spPr>
          <a:xfrm>
            <a:off x="841248" y="5913120"/>
            <a:ext cx="182880" cy="182880"/>
          </a:xfrm>
          <a:prstGeom prst="rect">
            <a:avLst/>
          </a:prstGeom>
        </p:spPr>
      </p:pic>
      <p:sp>
        <p:nvSpPr>
          <p:cNvPr id="25" name="Text 13"/>
          <p:cNvSpPr/>
          <p:nvPr/>
        </p:nvSpPr>
        <p:spPr>
          <a:xfrm>
            <a:off x="1115568" y="5772912"/>
            <a:ext cx="4663440" cy="445008"/>
          </a:xfrm>
          <a:prstGeom prst="rect">
            <a:avLst/>
          </a:prstGeom>
          <a:noFill/>
          <a:ln/>
        </p:spPr>
        <p:txBody>
          <a:bodyPr wrap="square" lIns="0" tIns="0" rIns="0" bIns="0" rtlCol="0" anchor="ctr"/>
          <a:lstStyle/>
          <a:p>
            <a:pPr algn="l" indent="0" marL="0">
              <a:buNone/>
            </a:pPr>
            <a:r>
              <a:rPr lang="en-US" sz="1200" dirty="0">
                <a:solidFill>
                  <a:srgbClr val="1B2440"/>
                </a:solidFill>
                <a:latin typeface="Calibri" pitchFamily="34" charset="0"/>
                <a:ea typeface="Calibri" pitchFamily="34" charset="-122"/>
                <a:cs typeface="Calibri" pitchFamily="34" charset="-120"/>
              </a:rPr>
              <a:t>Download &amp; Print</a:t>
            </a:r>
            <a:endParaRPr lang="en-US" sz="1200" dirty="0"/>
          </a:p>
        </p:txBody>
      </p:sp>
      <p:sp>
        <p:nvSpPr>
          <p:cNvPr id="26" name="Shape 14"/>
          <p:cNvSpPr/>
          <p:nvPr/>
        </p:nvSpPr>
        <p:spPr>
          <a:xfrm>
            <a:off x="6172200" y="1463040"/>
            <a:ext cx="5486400" cy="4754880"/>
          </a:xfrm>
          <a:prstGeom prst="roundRect">
            <a:avLst>
              <a:gd name="adj" fmla="val 1923"/>
            </a:avLst>
          </a:prstGeom>
          <a:solidFill>
            <a:srgbClr val="0B1533"/>
          </a:solidFill>
          <a:ln/>
        </p:spPr>
      </p:sp>
      <p:sp>
        <p:nvSpPr>
          <p:cNvPr id="27" name="Shape 15"/>
          <p:cNvSpPr/>
          <p:nvPr/>
        </p:nvSpPr>
        <p:spPr>
          <a:xfrm>
            <a:off x="6446520" y="1581912"/>
            <a:ext cx="457200" cy="457200"/>
          </a:xfrm>
          <a:prstGeom prst="ellipse">
            <a:avLst/>
          </a:prstGeom>
          <a:solidFill>
            <a:srgbClr val="16204A"/>
          </a:solidFill>
          <a:ln/>
        </p:spPr>
      </p:sp>
      <p:pic>
        <p:nvPicPr>
          <p:cNvPr id="28" name="Image 10" descr="/home/claude/icons/admin_CADCFC.png">    </p:cNvPr>
          <p:cNvPicPr>
            <a:picLocks noChangeAspect="1"/>
          </p:cNvPicPr>
          <p:nvPr/>
        </p:nvPicPr>
        <p:blipFill>
          <a:blip r:embed="rId11"/>
          <a:stretch>
            <a:fillRect/>
          </a:stretch>
        </p:blipFill>
        <p:spPr>
          <a:xfrm>
            <a:off x="6549390" y="1684782"/>
            <a:ext cx="251460" cy="251460"/>
          </a:xfrm>
          <a:prstGeom prst="rect">
            <a:avLst/>
          </a:prstGeom>
        </p:spPr>
      </p:pic>
      <p:sp>
        <p:nvSpPr>
          <p:cNvPr id="29" name="Text 16"/>
          <p:cNvSpPr/>
          <p:nvPr/>
        </p:nvSpPr>
        <p:spPr>
          <a:xfrm>
            <a:off x="7040880" y="1581912"/>
            <a:ext cx="438912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Admin Modules</a:t>
            </a:r>
            <a:endParaRPr lang="en-US" sz="1500" dirty="0"/>
          </a:p>
        </p:txBody>
      </p:sp>
      <p:pic>
        <p:nvPicPr>
          <p:cNvPr id="30" name="Image 11" descr="/home/claude/icons/check_CADCFC.png">    </p:cNvPr>
          <p:cNvPicPr>
            <a:picLocks noChangeAspect="1"/>
          </p:cNvPicPr>
          <p:nvPr/>
        </p:nvPicPr>
        <p:blipFill>
          <a:blip r:embed="rId12"/>
          <a:stretch>
            <a:fillRect/>
          </a:stretch>
        </p:blipFill>
        <p:spPr>
          <a:xfrm>
            <a:off x="6464808" y="2380869"/>
            <a:ext cx="182880" cy="182880"/>
          </a:xfrm>
          <a:prstGeom prst="rect">
            <a:avLst/>
          </a:prstGeom>
        </p:spPr>
      </p:pic>
      <p:sp>
        <p:nvSpPr>
          <p:cNvPr id="31" name="Text 17"/>
          <p:cNvSpPr/>
          <p:nvPr/>
        </p:nvSpPr>
        <p:spPr>
          <a:xfrm>
            <a:off x="6739128" y="2212848"/>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Administrator Authentication</a:t>
            </a:r>
            <a:endParaRPr lang="en-US" sz="1200" dirty="0"/>
          </a:p>
        </p:txBody>
      </p:sp>
      <p:pic>
        <p:nvPicPr>
          <p:cNvPr id="32" name="Image 12" descr="/home/claude/icons/check_CADCFC.png">    </p:cNvPr>
          <p:cNvPicPr>
            <a:picLocks noChangeAspect="1"/>
          </p:cNvPicPr>
          <p:nvPr/>
        </p:nvPicPr>
        <p:blipFill>
          <a:blip r:embed="rId13"/>
          <a:stretch>
            <a:fillRect/>
          </a:stretch>
        </p:blipFill>
        <p:spPr>
          <a:xfrm>
            <a:off x="6464808" y="2881503"/>
            <a:ext cx="182880" cy="182880"/>
          </a:xfrm>
          <a:prstGeom prst="rect">
            <a:avLst/>
          </a:prstGeom>
        </p:spPr>
      </p:pic>
      <p:sp>
        <p:nvSpPr>
          <p:cNvPr id="33" name="Text 18"/>
          <p:cNvSpPr/>
          <p:nvPr/>
        </p:nvSpPr>
        <p:spPr>
          <a:xfrm>
            <a:off x="6739128" y="2713482"/>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Admin Dashboard</a:t>
            </a:r>
            <a:endParaRPr lang="en-US" sz="1200" dirty="0"/>
          </a:p>
        </p:txBody>
      </p:sp>
      <p:pic>
        <p:nvPicPr>
          <p:cNvPr id="34" name="Image 13" descr="/home/claude/icons/check_CADCFC.png">    </p:cNvPr>
          <p:cNvPicPr>
            <a:picLocks noChangeAspect="1"/>
          </p:cNvPicPr>
          <p:nvPr/>
        </p:nvPicPr>
        <p:blipFill>
          <a:blip r:embed="rId14"/>
          <a:stretch>
            <a:fillRect/>
          </a:stretch>
        </p:blipFill>
        <p:spPr>
          <a:xfrm>
            <a:off x="6464808" y="3382137"/>
            <a:ext cx="182880" cy="182880"/>
          </a:xfrm>
          <a:prstGeom prst="rect">
            <a:avLst/>
          </a:prstGeom>
        </p:spPr>
      </p:pic>
      <p:sp>
        <p:nvSpPr>
          <p:cNvPr id="35" name="Text 19"/>
          <p:cNvSpPr/>
          <p:nvPr/>
        </p:nvSpPr>
        <p:spPr>
          <a:xfrm>
            <a:off x="6739128" y="3214116"/>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Service Management</a:t>
            </a:r>
            <a:endParaRPr lang="en-US" sz="1200" dirty="0"/>
          </a:p>
        </p:txBody>
      </p:sp>
      <p:pic>
        <p:nvPicPr>
          <p:cNvPr id="36" name="Image 14" descr="/home/claude/icons/check_CADCFC.png">    </p:cNvPr>
          <p:cNvPicPr>
            <a:picLocks noChangeAspect="1"/>
          </p:cNvPicPr>
          <p:nvPr/>
        </p:nvPicPr>
        <p:blipFill>
          <a:blip r:embed="rId15"/>
          <a:stretch>
            <a:fillRect/>
          </a:stretch>
        </p:blipFill>
        <p:spPr>
          <a:xfrm>
            <a:off x="6464808" y="3882771"/>
            <a:ext cx="182880" cy="182880"/>
          </a:xfrm>
          <a:prstGeom prst="rect">
            <a:avLst/>
          </a:prstGeom>
        </p:spPr>
      </p:pic>
      <p:sp>
        <p:nvSpPr>
          <p:cNvPr id="37" name="Text 20"/>
          <p:cNvSpPr/>
          <p:nvPr/>
        </p:nvSpPr>
        <p:spPr>
          <a:xfrm>
            <a:off x="6739128" y="3714750"/>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Document Management</a:t>
            </a:r>
            <a:endParaRPr lang="en-US" sz="1200" dirty="0"/>
          </a:p>
        </p:txBody>
      </p:sp>
      <p:pic>
        <p:nvPicPr>
          <p:cNvPr id="38" name="Image 15" descr="/home/claude/icons/check_CADCFC.png">    </p:cNvPr>
          <p:cNvPicPr>
            <a:picLocks noChangeAspect="1"/>
          </p:cNvPicPr>
          <p:nvPr/>
        </p:nvPicPr>
        <p:blipFill>
          <a:blip r:embed="rId16"/>
          <a:stretch>
            <a:fillRect/>
          </a:stretch>
        </p:blipFill>
        <p:spPr>
          <a:xfrm>
            <a:off x="6464808" y="4383405"/>
            <a:ext cx="182880" cy="182880"/>
          </a:xfrm>
          <a:prstGeom prst="rect">
            <a:avLst/>
          </a:prstGeom>
        </p:spPr>
      </p:pic>
      <p:sp>
        <p:nvSpPr>
          <p:cNvPr id="39" name="Text 21"/>
          <p:cNvSpPr/>
          <p:nvPr/>
        </p:nvSpPr>
        <p:spPr>
          <a:xfrm>
            <a:off x="6739128" y="4215384"/>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Question Management</a:t>
            </a:r>
            <a:endParaRPr lang="en-US" sz="1200" dirty="0"/>
          </a:p>
        </p:txBody>
      </p:sp>
      <p:pic>
        <p:nvPicPr>
          <p:cNvPr id="40" name="Image 16" descr="/home/claude/icons/check_CADCFC.png">    </p:cNvPr>
          <p:cNvPicPr>
            <a:picLocks noChangeAspect="1"/>
          </p:cNvPicPr>
          <p:nvPr/>
        </p:nvPicPr>
        <p:blipFill>
          <a:blip r:embed="rId17"/>
          <a:stretch>
            <a:fillRect/>
          </a:stretch>
        </p:blipFill>
        <p:spPr>
          <a:xfrm>
            <a:off x="6464808" y="4884039"/>
            <a:ext cx="182880" cy="182880"/>
          </a:xfrm>
          <a:prstGeom prst="rect">
            <a:avLst/>
          </a:prstGeom>
        </p:spPr>
      </p:pic>
      <p:sp>
        <p:nvSpPr>
          <p:cNvPr id="41" name="Text 22"/>
          <p:cNvSpPr/>
          <p:nvPr/>
        </p:nvSpPr>
        <p:spPr>
          <a:xfrm>
            <a:off x="6739128" y="4716018"/>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Requirement Rules</a:t>
            </a:r>
            <a:endParaRPr lang="en-US" sz="1200" dirty="0"/>
          </a:p>
        </p:txBody>
      </p:sp>
      <p:pic>
        <p:nvPicPr>
          <p:cNvPr id="42" name="Image 17" descr="/home/claude/icons/check_CADCFC.png">    </p:cNvPr>
          <p:cNvPicPr>
            <a:picLocks noChangeAspect="1"/>
          </p:cNvPicPr>
          <p:nvPr/>
        </p:nvPicPr>
        <p:blipFill>
          <a:blip r:embed="rId18"/>
          <a:stretch>
            <a:fillRect/>
          </a:stretch>
        </p:blipFill>
        <p:spPr>
          <a:xfrm>
            <a:off x="6464808" y="5384673"/>
            <a:ext cx="182880" cy="182880"/>
          </a:xfrm>
          <a:prstGeom prst="rect">
            <a:avLst/>
          </a:prstGeom>
        </p:spPr>
      </p:pic>
      <p:sp>
        <p:nvSpPr>
          <p:cNvPr id="43" name="Text 23"/>
          <p:cNvSpPr/>
          <p:nvPr/>
        </p:nvSpPr>
        <p:spPr>
          <a:xfrm>
            <a:off x="6739128" y="5216652"/>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Website Content Management</a:t>
            </a:r>
            <a:endParaRPr lang="en-US" sz="1200" dirty="0"/>
          </a:p>
        </p:txBody>
      </p:sp>
      <p:pic>
        <p:nvPicPr>
          <p:cNvPr id="44" name="Image 18" descr="/home/claude/icons/check_CADCFC.png">    </p:cNvPr>
          <p:cNvPicPr>
            <a:picLocks noChangeAspect="1"/>
          </p:cNvPicPr>
          <p:nvPr/>
        </p:nvPicPr>
        <p:blipFill>
          <a:blip r:embed="rId19"/>
          <a:stretch>
            <a:fillRect/>
          </a:stretch>
        </p:blipFill>
        <p:spPr>
          <a:xfrm>
            <a:off x="6464808" y="5885307"/>
            <a:ext cx="182880" cy="182880"/>
          </a:xfrm>
          <a:prstGeom prst="rect">
            <a:avLst/>
          </a:prstGeom>
        </p:spPr>
      </p:pic>
      <p:sp>
        <p:nvSpPr>
          <p:cNvPr id="45" name="Text 24"/>
          <p:cNvSpPr/>
          <p:nvPr/>
        </p:nvSpPr>
        <p:spPr>
          <a:xfrm>
            <a:off x="6739128" y="5717286"/>
            <a:ext cx="4663440" cy="50063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Reports &amp; Analytics</a:t>
            </a:r>
            <a:endParaRPr lang="en-US" sz="1200" dirty="0"/>
          </a:p>
        </p:txBody>
      </p:sp>
      <p:sp>
        <p:nvSpPr>
          <p:cNvPr id="46" name="Text 2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Citizen Application Document Checklist Generator</a:t>
            </a:r>
            <a:endParaRPr lang="en-US" sz="900" dirty="0"/>
          </a:p>
        </p:txBody>
      </p:sp>
      <p:sp>
        <p:nvSpPr>
          <p:cNvPr id="47" name="Text 2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Technology Stack &amp; System Architecture</a:t>
            </a:r>
            <a:endParaRPr lang="en-US" sz="3000" dirty="0"/>
          </a:p>
        </p:txBody>
      </p:sp>
      <p:sp>
        <p:nvSpPr>
          <p:cNvPr id="3" name="Text 1"/>
          <p:cNvSpPr/>
          <p:nvPr/>
        </p:nvSpPr>
        <p:spPr>
          <a:xfrm>
            <a:off x="548640" y="960120"/>
            <a:ext cx="4572000" cy="274320"/>
          </a:xfrm>
          <a:prstGeom prst="rect">
            <a:avLst/>
          </a:prstGeom>
          <a:noFill/>
          <a:ln/>
        </p:spPr>
        <p:txBody>
          <a:bodyPr wrap="square" lIns="0" tIns="0" rIns="0" bIns="0" rtlCol="0" anchor="ctr"/>
          <a:lstStyle/>
          <a:p>
            <a:pPr algn="l" indent="0" marL="0">
              <a:buNone/>
            </a:pPr>
            <a:r>
              <a:rPr lang="en-US" sz="1100" b="1" spc="120" kern="0" dirty="0">
                <a:solidFill>
                  <a:srgbClr val="3B5BDB"/>
                </a:solidFill>
                <a:latin typeface="Calibri" pitchFamily="34" charset="0"/>
                <a:ea typeface="Calibri" pitchFamily="34" charset="-122"/>
                <a:cs typeface="Calibri" pitchFamily="34" charset="-120"/>
              </a:rPr>
              <a:t>PUBLIC ACCESS FLOW</a:t>
            </a:r>
            <a:endParaRPr lang="en-US" sz="1100" dirty="0"/>
          </a:p>
        </p:txBody>
      </p:sp>
      <p:sp>
        <p:nvSpPr>
          <p:cNvPr id="4" name="Shape 2"/>
          <p:cNvSpPr/>
          <p:nvPr/>
        </p:nvSpPr>
        <p:spPr>
          <a:xfrm>
            <a:off x="548640" y="1280160"/>
            <a:ext cx="1706880" cy="1051560"/>
          </a:xfrm>
          <a:prstGeom prst="roundRect">
            <a:avLst>
              <a:gd name="adj" fmla="val 6957"/>
            </a:avLst>
          </a:prstGeom>
          <a:solidFill>
            <a:srgbClr val="F3F6FC"/>
          </a:solidFill>
          <a:ln/>
        </p:spPr>
      </p:sp>
      <p:sp>
        <p:nvSpPr>
          <p:cNvPr id="5" name="Shape 3"/>
          <p:cNvSpPr/>
          <p:nvPr/>
        </p:nvSpPr>
        <p:spPr>
          <a:xfrm>
            <a:off x="1200912" y="1408176"/>
            <a:ext cx="402336" cy="402336"/>
          </a:xfrm>
          <a:prstGeom prst="ellipse">
            <a:avLst/>
          </a:prstGeom>
          <a:solidFill>
            <a:srgbClr val="FFFFFF"/>
          </a:solidFill>
          <a:ln/>
        </p:spPr>
      </p:sp>
      <p:pic>
        <p:nvPicPr>
          <p:cNvPr id="6" name="Image 0" descr="/home/claude/icons/citizens_1E2761.png">    </p:cNvPr>
          <p:cNvPicPr>
            <a:picLocks noChangeAspect="1"/>
          </p:cNvPicPr>
          <p:nvPr/>
        </p:nvPicPr>
        <p:blipFill>
          <a:blip r:embed="rId1"/>
          <a:stretch>
            <a:fillRect/>
          </a:stretch>
        </p:blipFill>
        <p:spPr>
          <a:xfrm>
            <a:off x="1291438" y="1498702"/>
            <a:ext cx="221285" cy="221285"/>
          </a:xfrm>
          <a:prstGeom prst="rect">
            <a:avLst/>
          </a:prstGeom>
        </p:spPr>
      </p:pic>
      <p:sp>
        <p:nvSpPr>
          <p:cNvPr id="7" name="Text 4"/>
          <p:cNvSpPr/>
          <p:nvPr/>
        </p:nvSpPr>
        <p:spPr>
          <a:xfrm>
            <a:off x="594360" y="1847088"/>
            <a:ext cx="1615440" cy="438912"/>
          </a:xfrm>
          <a:prstGeom prst="rect">
            <a:avLst/>
          </a:prstGeom>
          <a:noFill/>
          <a:ln/>
        </p:spPr>
        <p:txBody>
          <a:bodyPr wrap="square" lIns="0" tIns="0" rIns="0" bIns="0" rtlCol="0" anchor="t"/>
          <a:lstStyle/>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Public User</a:t>
            </a:r>
            <a:endParaRPr lang="en-US" sz="950" dirty="0"/>
          </a:p>
        </p:txBody>
      </p:sp>
      <p:pic>
        <p:nvPicPr>
          <p:cNvPr id="8" name="Image 1" descr="/home/claude/icons/arrowRight_5C6B8A.png">    </p:cNvPr>
          <p:cNvPicPr>
            <a:picLocks noChangeAspect="1"/>
          </p:cNvPicPr>
          <p:nvPr/>
        </p:nvPicPr>
        <p:blipFill>
          <a:blip r:embed="rId2"/>
          <a:stretch>
            <a:fillRect/>
          </a:stretch>
        </p:blipFill>
        <p:spPr>
          <a:xfrm>
            <a:off x="2264664" y="1732788"/>
            <a:ext cx="146304" cy="146304"/>
          </a:xfrm>
          <a:prstGeom prst="rect">
            <a:avLst/>
          </a:prstGeom>
        </p:spPr>
      </p:pic>
      <p:sp>
        <p:nvSpPr>
          <p:cNvPr id="9" name="Shape 5"/>
          <p:cNvSpPr/>
          <p:nvPr/>
        </p:nvSpPr>
        <p:spPr>
          <a:xfrm>
            <a:off x="2420112" y="1280160"/>
            <a:ext cx="1706880" cy="1051560"/>
          </a:xfrm>
          <a:prstGeom prst="roundRect">
            <a:avLst>
              <a:gd name="adj" fmla="val 6957"/>
            </a:avLst>
          </a:prstGeom>
          <a:solidFill>
            <a:srgbClr val="F3F6FC"/>
          </a:solidFill>
          <a:ln/>
        </p:spPr>
      </p:sp>
      <p:sp>
        <p:nvSpPr>
          <p:cNvPr id="10" name="Shape 6"/>
          <p:cNvSpPr/>
          <p:nvPr/>
        </p:nvSpPr>
        <p:spPr>
          <a:xfrm>
            <a:off x="3072384" y="1408176"/>
            <a:ext cx="402336" cy="402336"/>
          </a:xfrm>
          <a:prstGeom prst="ellipse">
            <a:avLst/>
          </a:prstGeom>
          <a:solidFill>
            <a:srgbClr val="FFFFFF"/>
          </a:solidFill>
          <a:ln/>
        </p:spPr>
      </p:sp>
      <p:pic>
        <p:nvPicPr>
          <p:cNvPr id="11" name="Image 2" descr="/home/claude/icons/globe_1E2761.png">    </p:cNvPr>
          <p:cNvPicPr>
            <a:picLocks noChangeAspect="1"/>
          </p:cNvPicPr>
          <p:nvPr/>
        </p:nvPicPr>
        <p:blipFill>
          <a:blip r:embed="rId3"/>
          <a:stretch>
            <a:fillRect/>
          </a:stretch>
        </p:blipFill>
        <p:spPr>
          <a:xfrm>
            <a:off x="3162910" y="1498702"/>
            <a:ext cx="221285" cy="221285"/>
          </a:xfrm>
          <a:prstGeom prst="rect">
            <a:avLst/>
          </a:prstGeom>
        </p:spPr>
      </p:pic>
      <p:sp>
        <p:nvSpPr>
          <p:cNvPr id="12" name="Text 7"/>
          <p:cNvSpPr/>
          <p:nvPr/>
        </p:nvSpPr>
        <p:spPr>
          <a:xfrm>
            <a:off x="2465832" y="1847088"/>
            <a:ext cx="1615440" cy="438912"/>
          </a:xfrm>
          <a:prstGeom prst="rect">
            <a:avLst/>
          </a:prstGeom>
          <a:noFill/>
          <a:ln/>
        </p:spPr>
        <p:txBody>
          <a:bodyPr wrap="square" lIns="0" tIns="0" rIns="0" bIns="0" rtlCol="0" anchor="t"/>
          <a:lstStyle/>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Web Interface</a:t>
            </a:r>
            <a:endParaRPr lang="en-US" sz="950" dirty="0"/>
          </a:p>
        </p:txBody>
      </p:sp>
      <p:pic>
        <p:nvPicPr>
          <p:cNvPr id="13" name="Image 3" descr="/home/claude/icons/arrowRight_5C6B8A.png">    </p:cNvPr>
          <p:cNvPicPr>
            <a:picLocks noChangeAspect="1"/>
          </p:cNvPicPr>
          <p:nvPr/>
        </p:nvPicPr>
        <p:blipFill>
          <a:blip r:embed="rId4"/>
          <a:stretch>
            <a:fillRect/>
          </a:stretch>
        </p:blipFill>
        <p:spPr>
          <a:xfrm>
            <a:off x="4136136" y="1732788"/>
            <a:ext cx="146304" cy="146304"/>
          </a:xfrm>
          <a:prstGeom prst="rect">
            <a:avLst/>
          </a:prstGeom>
        </p:spPr>
      </p:pic>
      <p:sp>
        <p:nvSpPr>
          <p:cNvPr id="14" name="Shape 8"/>
          <p:cNvSpPr/>
          <p:nvPr/>
        </p:nvSpPr>
        <p:spPr>
          <a:xfrm>
            <a:off x="4291584" y="1280160"/>
            <a:ext cx="1706880" cy="1051560"/>
          </a:xfrm>
          <a:prstGeom prst="roundRect">
            <a:avLst>
              <a:gd name="adj" fmla="val 6957"/>
            </a:avLst>
          </a:prstGeom>
          <a:solidFill>
            <a:srgbClr val="F3F6FC"/>
          </a:solidFill>
          <a:ln/>
        </p:spPr>
      </p:sp>
      <p:sp>
        <p:nvSpPr>
          <p:cNvPr id="15" name="Shape 9"/>
          <p:cNvSpPr/>
          <p:nvPr/>
        </p:nvSpPr>
        <p:spPr>
          <a:xfrm>
            <a:off x="4943856" y="1408176"/>
            <a:ext cx="402336" cy="402336"/>
          </a:xfrm>
          <a:prstGeom prst="ellipse">
            <a:avLst/>
          </a:prstGeom>
          <a:solidFill>
            <a:srgbClr val="FFFFFF"/>
          </a:solidFill>
          <a:ln/>
        </p:spPr>
      </p:sp>
      <p:pic>
        <p:nvPicPr>
          <p:cNvPr id="16" name="Image 4" descr="/home/claude/icons/api_1E2761.png">    </p:cNvPr>
          <p:cNvPicPr>
            <a:picLocks noChangeAspect="1"/>
          </p:cNvPicPr>
          <p:nvPr/>
        </p:nvPicPr>
        <p:blipFill>
          <a:blip r:embed="rId5"/>
          <a:stretch>
            <a:fillRect/>
          </a:stretch>
        </p:blipFill>
        <p:spPr>
          <a:xfrm>
            <a:off x="5034382" y="1498702"/>
            <a:ext cx="221285" cy="221285"/>
          </a:xfrm>
          <a:prstGeom prst="rect">
            <a:avLst/>
          </a:prstGeom>
        </p:spPr>
      </p:pic>
      <p:sp>
        <p:nvSpPr>
          <p:cNvPr id="17" name="Text 10"/>
          <p:cNvSpPr/>
          <p:nvPr/>
        </p:nvSpPr>
        <p:spPr>
          <a:xfrm>
            <a:off x="4337304" y="1847088"/>
            <a:ext cx="1615440" cy="438912"/>
          </a:xfrm>
          <a:prstGeom prst="rect">
            <a:avLst/>
          </a:prstGeom>
          <a:noFill/>
          <a:ln/>
        </p:spPr>
        <p:txBody>
          <a:bodyPr wrap="square" lIns="0" tIns="0" rIns="0" bIns="0" rtlCol="0" anchor="t"/>
          <a:lstStyle/>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Backend / REST API</a:t>
            </a:r>
            <a:endParaRPr lang="en-US" sz="950" dirty="0"/>
          </a:p>
        </p:txBody>
      </p:sp>
      <p:pic>
        <p:nvPicPr>
          <p:cNvPr id="18" name="Image 5" descr="/home/claude/icons/arrowRight_5C6B8A.png">    </p:cNvPr>
          <p:cNvPicPr>
            <a:picLocks noChangeAspect="1"/>
          </p:cNvPicPr>
          <p:nvPr/>
        </p:nvPicPr>
        <p:blipFill>
          <a:blip r:embed="rId6"/>
          <a:stretch>
            <a:fillRect/>
          </a:stretch>
        </p:blipFill>
        <p:spPr>
          <a:xfrm>
            <a:off x="6007608" y="1732788"/>
            <a:ext cx="146304" cy="146304"/>
          </a:xfrm>
          <a:prstGeom prst="rect">
            <a:avLst/>
          </a:prstGeom>
        </p:spPr>
      </p:pic>
      <p:sp>
        <p:nvSpPr>
          <p:cNvPr id="19" name="Shape 11"/>
          <p:cNvSpPr/>
          <p:nvPr/>
        </p:nvSpPr>
        <p:spPr>
          <a:xfrm>
            <a:off x="6163056" y="1280160"/>
            <a:ext cx="1706880" cy="1051560"/>
          </a:xfrm>
          <a:prstGeom prst="roundRect">
            <a:avLst>
              <a:gd name="adj" fmla="val 6957"/>
            </a:avLst>
          </a:prstGeom>
          <a:solidFill>
            <a:srgbClr val="F3F6FC"/>
          </a:solidFill>
          <a:ln/>
        </p:spPr>
      </p:sp>
      <p:sp>
        <p:nvSpPr>
          <p:cNvPr id="20" name="Shape 12"/>
          <p:cNvSpPr/>
          <p:nvPr/>
        </p:nvSpPr>
        <p:spPr>
          <a:xfrm>
            <a:off x="6815328" y="1408176"/>
            <a:ext cx="402336" cy="402336"/>
          </a:xfrm>
          <a:prstGeom prst="ellipse">
            <a:avLst/>
          </a:prstGeom>
          <a:solidFill>
            <a:srgbClr val="FFFFFF"/>
          </a:solidFill>
          <a:ln/>
        </p:spPr>
      </p:sp>
      <p:pic>
        <p:nvPicPr>
          <p:cNvPr id="21" name="Image 6" descr="/home/claude/icons/gear_1E2761.png">    </p:cNvPr>
          <p:cNvPicPr>
            <a:picLocks noChangeAspect="1"/>
          </p:cNvPicPr>
          <p:nvPr/>
        </p:nvPicPr>
        <p:blipFill>
          <a:blip r:embed="rId7"/>
          <a:stretch>
            <a:fillRect/>
          </a:stretch>
        </p:blipFill>
        <p:spPr>
          <a:xfrm>
            <a:off x="6905854" y="1498702"/>
            <a:ext cx="221285" cy="221285"/>
          </a:xfrm>
          <a:prstGeom prst="rect">
            <a:avLst/>
          </a:prstGeom>
        </p:spPr>
      </p:pic>
      <p:sp>
        <p:nvSpPr>
          <p:cNvPr id="22" name="Text 13"/>
          <p:cNvSpPr/>
          <p:nvPr/>
        </p:nvSpPr>
        <p:spPr>
          <a:xfrm>
            <a:off x="6208776" y="1847088"/>
            <a:ext cx="1615440" cy="438912"/>
          </a:xfrm>
          <a:prstGeom prst="rect">
            <a:avLst/>
          </a:prstGeom>
          <a:noFill/>
          <a:ln/>
        </p:spPr>
        <p:txBody>
          <a:bodyPr wrap="square" lIns="0" tIns="0" rIns="0" bIns="0" rtlCol="0" anchor="t"/>
          <a:lstStyle/>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Requirement Analysis</a:t>
            </a:r>
            <a:endParaRPr lang="en-US" sz="950" dirty="0"/>
          </a:p>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&amp; Rule Engine</a:t>
            </a:r>
            <a:endParaRPr lang="en-US" sz="950" dirty="0"/>
          </a:p>
        </p:txBody>
      </p:sp>
      <p:pic>
        <p:nvPicPr>
          <p:cNvPr id="23" name="Image 7" descr="/home/claude/icons/arrowRight_5C6B8A.png">    </p:cNvPr>
          <p:cNvPicPr>
            <a:picLocks noChangeAspect="1"/>
          </p:cNvPicPr>
          <p:nvPr/>
        </p:nvPicPr>
        <p:blipFill>
          <a:blip r:embed="rId8"/>
          <a:stretch>
            <a:fillRect/>
          </a:stretch>
        </p:blipFill>
        <p:spPr>
          <a:xfrm>
            <a:off x="7879080" y="1732788"/>
            <a:ext cx="146304" cy="146304"/>
          </a:xfrm>
          <a:prstGeom prst="rect">
            <a:avLst/>
          </a:prstGeom>
        </p:spPr>
      </p:pic>
      <p:sp>
        <p:nvSpPr>
          <p:cNvPr id="24" name="Shape 14"/>
          <p:cNvSpPr/>
          <p:nvPr/>
        </p:nvSpPr>
        <p:spPr>
          <a:xfrm>
            <a:off x="8034528" y="1280160"/>
            <a:ext cx="1706880" cy="1051560"/>
          </a:xfrm>
          <a:prstGeom prst="roundRect">
            <a:avLst>
              <a:gd name="adj" fmla="val 6957"/>
            </a:avLst>
          </a:prstGeom>
          <a:solidFill>
            <a:srgbClr val="F3F6FC"/>
          </a:solidFill>
          <a:ln/>
        </p:spPr>
      </p:sp>
      <p:sp>
        <p:nvSpPr>
          <p:cNvPr id="25" name="Shape 15"/>
          <p:cNvSpPr/>
          <p:nvPr/>
        </p:nvSpPr>
        <p:spPr>
          <a:xfrm>
            <a:off x="8686800" y="1408176"/>
            <a:ext cx="402336" cy="402336"/>
          </a:xfrm>
          <a:prstGeom prst="ellipse">
            <a:avLst/>
          </a:prstGeom>
          <a:solidFill>
            <a:srgbClr val="FFFFFF"/>
          </a:solidFill>
          <a:ln/>
        </p:spPr>
      </p:sp>
      <p:pic>
        <p:nvPicPr>
          <p:cNvPr id="26" name="Image 8" descr="/home/claude/icons/database_1E2761.png">    </p:cNvPr>
          <p:cNvPicPr>
            <a:picLocks noChangeAspect="1"/>
          </p:cNvPicPr>
          <p:nvPr/>
        </p:nvPicPr>
        <p:blipFill>
          <a:blip r:embed="rId9"/>
          <a:stretch>
            <a:fillRect/>
          </a:stretch>
        </p:blipFill>
        <p:spPr>
          <a:xfrm>
            <a:off x="8777326" y="1498702"/>
            <a:ext cx="221285" cy="221285"/>
          </a:xfrm>
          <a:prstGeom prst="rect">
            <a:avLst/>
          </a:prstGeom>
        </p:spPr>
      </p:pic>
      <p:sp>
        <p:nvSpPr>
          <p:cNvPr id="27" name="Text 16"/>
          <p:cNvSpPr/>
          <p:nvPr/>
        </p:nvSpPr>
        <p:spPr>
          <a:xfrm>
            <a:off x="8080248" y="1847088"/>
            <a:ext cx="1615440" cy="438912"/>
          </a:xfrm>
          <a:prstGeom prst="rect">
            <a:avLst/>
          </a:prstGeom>
          <a:noFill/>
          <a:ln/>
        </p:spPr>
        <p:txBody>
          <a:bodyPr wrap="square" lIns="0" tIns="0" rIns="0" bIns="0" rtlCol="0" anchor="t"/>
          <a:lstStyle/>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Database</a:t>
            </a:r>
            <a:endParaRPr lang="en-US" sz="950" dirty="0"/>
          </a:p>
        </p:txBody>
      </p:sp>
      <p:pic>
        <p:nvPicPr>
          <p:cNvPr id="28" name="Image 9" descr="/home/claude/icons/arrowRight_5C6B8A.png">    </p:cNvPr>
          <p:cNvPicPr>
            <a:picLocks noChangeAspect="1"/>
          </p:cNvPicPr>
          <p:nvPr/>
        </p:nvPicPr>
        <p:blipFill>
          <a:blip r:embed="rId10"/>
          <a:stretch>
            <a:fillRect/>
          </a:stretch>
        </p:blipFill>
        <p:spPr>
          <a:xfrm>
            <a:off x="9750552" y="1732788"/>
            <a:ext cx="146304" cy="146304"/>
          </a:xfrm>
          <a:prstGeom prst="rect">
            <a:avLst/>
          </a:prstGeom>
        </p:spPr>
      </p:pic>
      <p:sp>
        <p:nvSpPr>
          <p:cNvPr id="29" name="Shape 17"/>
          <p:cNvSpPr/>
          <p:nvPr/>
        </p:nvSpPr>
        <p:spPr>
          <a:xfrm>
            <a:off x="9906000" y="1280160"/>
            <a:ext cx="1706880" cy="1051560"/>
          </a:xfrm>
          <a:prstGeom prst="roundRect">
            <a:avLst>
              <a:gd name="adj" fmla="val 6957"/>
            </a:avLst>
          </a:prstGeom>
          <a:solidFill>
            <a:srgbClr val="F3F6FC"/>
          </a:solidFill>
          <a:ln/>
        </p:spPr>
      </p:sp>
      <p:sp>
        <p:nvSpPr>
          <p:cNvPr id="30" name="Shape 18"/>
          <p:cNvSpPr/>
          <p:nvPr/>
        </p:nvSpPr>
        <p:spPr>
          <a:xfrm>
            <a:off x="10558272" y="1408176"/>
            <a:ext cx="402336" cy="402336"/>
          </a:xfrm>
          <a:prstGeom prst="ellipse">
            <a:avLst/>
          </a:prstGeom>
          <a:solidFill>
            <a:srgbClr val="FFFFFF"/>
          </a:solidFill>
          <a:ln/>
        </p:spPr>
      </p:sp>
      <p:pic>
        <p:nvPicPr>
          <p:cNvPr id="31" name="Image 10" descr="/home/claude/icons/checklist_1E2761.png">    </p:cNvPr>
          <p:cNvPicPr>
            <a:picLocks noChangeAspect="1"/>
          </p:cNvPicPr>
          <p:nvPr/>
        </p:nvPicPr>
        <p:blipFill>
          <a:blip r:embed="rId11"/>
          <a:stretch>
            <a:fillRect/>
          </a:stretch>
        </p:blipFill>
        <p:spPr>
          <a:xfrm>
            <a:off x="10648798" y="1498702"/>
            <a:ext cx="221285" cy="221285"/>
          </a:xfrm>
          <a:prstGeom prst="rect">
            <a:avLst/>
          </a:prstGeom>
        </p:spPr>
      </p:pic>
      <p:sp>
        <p:nvSpPr>
          <p:cNvPr id="32" name="Text 19"/>
          <p:cNvSpPr/>
          <p:nvPr/>
        </p:nvSpPr>
        <p:spPr>
          <a:xfrm>
            <a:off x="9951720" y="1847088"/>
            <a:ext cx="1615440" cy="438912"/>
          </a:xfrm>
          <a:prstGeom prst="rect">
            <a:avLst/>
          </a:prstGeom>
          <a:noFill/>
          <a:ln/>
        </p:spPr>
        <p:txBody>
          <a:bodyPr wrap="square" lIns="0" tIns="0" rIns="0" bIns="0" rtlCol="0" anchor="t"/>
          <a:lstStyle/>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Personalized</a:t>
            </a:r>
            <a:endParaRPr lang="en-US" sz="950" dirty="0"/>
          </a:p>
          <a:p>
            <a:pPr algn="ctr" indent="0" marL="0">
              <a:lnSpc>
                <a:spcPct val="100000"/>
              </a:lnSpc>
              <a:buNone/>
            </a:pPr>
            <a:r>
              <a:rPr lang="en-US" sz="950" b="1" dirty="0">
                <a:solidFill>
                  <a:srgbClr val="1B2440"/>
                </a:solidFill>
                <a:latin typeface="Calibri" pitchFamily="34" charset="0"/>
                <a:ea typeface="Calibri" pitchFamily="34" charset="-122"/>
                <a:cs typeface="Calibri" pitchFamily="34" charset="-120"/>
              </a:rPr>
              <a:t>Checklist</a:t>
            </a:r>
            <a:endParaRPr lang="en-US" sz="950" dirty="0"/>
          </a:p>
        </p:txBody>
      </p:sp>
      <p:sp>
        <p:nvSpPr>
          <p:cNvPr id="33" name="Text 20"/>
          <p:cNvSpPr/>
          <p:nvPr/>
        </p:nvSpPr>
        <p:spPr>
          <a:xfrm>
            <a:off x="548640" y="2606040"/>
            <a:ext cx="4572000" cy="274320"/>
          </a:xfrm>
          <a:prstGeom prst="rect">
            <a:avLst/>
          </a:prstGeom>
          <a:noFill/>
          <a:ln/>
        </p:spPr>
        <p:txBody>
          <a:bodyPr wrap="square" lIns="0" tIns="0" rIns="0" bIns="0" rtlCol="0" anchor="ctr"/>
          <a:lstStyle/>
          <a:p>
            <a:pPr algn="l" indent="0" marL="0">
              <a:buNone/>
            </a:pPr>
            <a:r>
              <a:rPr lang="en-US" sz="1100" b="1" spc="120" kern="0" dirty="0">
                <a:solidFill>
                  <a:srgbClr val="3B5BDB"/>
                </a:solidFill>
                <a:latin typeface="Calibri" pitchFamily="34" charset="0"/>
                <a:ea typeface="Calibri" pitchFamily="34" charset="-122"/>
                <a:cs typeface="Calibri" pitchFamily="34" charset="-120"/>
              </a:rPr>
              <a:t>ADMIN FLOW</a:t>
            </a:r>
            <a:endParaRPr lang="en-US" sz="1100" dirty="0"/>
          </a:p>
        </p:txBody>
      </p:sp>
      <p:sp>
        <p:nvSpPr>
          <p:cNvPr id="34" name="Shape 21"/>
          <p:cNvSpPr/>
          <p:nvPr/>
        </p:nvSpPr>
        <p:spPr>
          <a:xfrm>
            <a:off x="548640" y="2926080"/>
            <a:ext cx="2642616" cy="1051560"/>
          </a:xfrm>
          <a:prstGeom prst="roundRect">
            <a:avLst>
              <a:gd name="adj" fmla="val 6957"/>
            </a:avLst>
          </a:prstGeom>
          <a:solidFill>
            <a:srgbClr val="0B1533"/>
          </a:solidFill>
          <a:ln/>
        </p:spPr>
      </p:sp>
      <p:sp>
        <p:nvSpPr>
          <p:cNvPr id="35" name="Shape 22"/>
          <p:cNvSpPr/>
          <p:nvPr/>
        </p:nvSpPr>
        <p:spPr>
          <a:xfrm>
            <a:off x="1668780" y="3054096"/>
            <a:ext cx="402336" cy="402336"/>
          </a:xfrm>
          <a:prstGeom prst="ellipse">
            <a:avLst/>
          </a:prstGeom>
          <a:solidFill>
            <a:srgbClr val="16204A"/>
          </a:solidFill>
          <a:ln/>
        </p:spPr>
      </p:sp>
      <p:pic>
        <p:nvPicPr>
          <p:cNvPr id="36" name="Image 11" descr="/home/claude/icons/admin_CADCFC.png">    </p:cNvPr>
          <p:cNvPicPr>
            <a:picLocks noChangeAspect="1"/>
          </p:cNvPicPr>
          <p:nvPr/>
        </p:nvPicPr>
        <p:blipFill>
          <a:blip r:embed="rId12"/>
          <a:stretch>
            <a:fillRect/>
          </a:stretch>
        </p:blipFill>
        <p:spPr>
          <a:xfrm>
            <a:off x="1759306" y="3144622"/>
            <a:ext cx="221285" cy="221285"/>
          </a:xfrm>
          <a:prstGeom prst="rect">
            <a:avLst/>
          </a:prstGeom>
        </p:spPr>
      </p:pic>
      <p:sp>
        <p:nvSpPr>
          <p:cNvPr id="37" name="Text 23"/>
          <p:cNvSpPr/>
          <p:nvPr/>
        </p:nvSpPr>
        <p:spPr>
          <a:xfrm>
            <a:off x="594360" y="3493008"/>
            <a:ext cx="2551176" cy="438912"/>
          </a:xfrm>
          <a:prstGeom prst="rect">
            <a:avLst/>
          </a:prstGeom>
          <a:noFill/>
          <a:ln/>
        </p:spPr>
        <p:txBody>
          <a:bodyPr wrap="square" lIns="0" tIns="0" rIns="0" bIns="0" rtlCol="0" anchor="t"/>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Admin Login</a:t>
            </a:r>
            <a:endParaRPr lang="en-US" sz="950" dirty="0"/>
          </a:p>
        </p:txBody>
      </p:sp>
      <p:pic>
        <p:nvPicPr>
          <p:cNvPr id="38" name="Image 12" descr="/home/claude/icons/arrowRight_9FB0D8.png">    </p:cNvPr>
          <p:cNvPicPr>
            <a:picLocks noChangeAspect="1"/>
          </p:cNvPicPr>
          <p:nvPr/>
        </p:nvPicPr>
        <p:blipFill>
          <a:blip r:embed="rId13"/>
          <a:stretch>
            <a:fillRect/>
          </a:stretch>
        </p:blipFill>
        <p:spPr>
          <a:xfrm>
            <a:off x="3200400" y="3378708"/>
            <a:ext cx="146304" cy="146304"/>
          </a:xfrm>
          <a:prstGeom prst="rect">
            <a:avLst/>
          </a:prstGeom>
        </p:spPr>
      </p:pic>
      <p:sp>
        <p:nvSpPr>
          <p:cNvPr id="39" name="Shape 24"/>
          <p:cNvSpPr/>
          <p:nvPr/>
        </p:nvSpPr>
        <p:spPr>
          <a:xfrm>
            <a:off x="3355848" y="2926080"/>
            <a:ext cx="2642616" cy="1051560"/>
          </a:xfrm>
          <a:prstGeom prst="roundRect">
            <a:avLst>
              <a:gd name="adj" fmla="val 6957"/>
            </a:avLst>
          </a:prstGeom>
          <a:solidFill>
            <a:srgbClr val="0B1533"/>
          </a:solidFill>
          <a:ln/>
        </p:spPr>
      </p:sp>
      <p:sp>
        <p:nvSpPr>
          <p:cNvPr id="40" name="Shape 25"/>
          <p:cNvSpPr/>
          <p:nvPr/>
        </p:nvSpPr>
        <p:spPr>
          <a:xfrm>
            <a:off x="4475988" y="3054096"/>
            <a:ext cx="402336" cy="402336"/>
          </a:xfrm>
          <a:prstGeom prst="ellipse">
            <a:avLst/>
          </a:prstGeom>
          <a:solidFill>
            <a:srgbClr val="16204A"/>
          </a:solidFill>
          <a:ln/>
        </p:spPr>
      </p:sp>
      <p:pic>
        <p:nvPicPr>
          <p:cNvPr id="41" name="Image 13" descr="/home/claude/icons/gear_CADCFC.png">    </p:cNvPr>
          <p:cNvPicPr>
            <a:picLocks noChangeAspect="1"/>
          </p:cNvPicPr>
          <p:nvPr/>
        </p:nvPicPr>
        <p:blipFill>
          <a:blip r:embed="rId14"/>
          <a:stretch>
            <a:fillRect/>
          </a:stretch>
        </p:blipFill>
        <p:spPr>
          <a:xfrm>
            <a:off x="4566514" y="3144622"/>
            <a:ext cx="221285" cy="221285"/>
          </a:xfrm>
          <a:prstGeom prst="rect">
            <a:avLst/>
          </a:prstGeom>
        </p:spPr>
      </p:pic>
      <p:sp>
        <p:nvSpPr>
          <p:cNvPr id="42" name="Text 26"/>
          <p:cNvSpPr/>
          <p:nvPr/>
        </p:nvSpPr>
        <p:spPr>
          <a:xfrm>
            <a:off x="3401568" y="3493008"/>
            <a:ext cx="2551176" cy="438912"/>
          </a:xfrm>
          <a:prstGeom prst="rect">
            <a:avLst/>
          </a:prstGeom>
          <a:noFill/>
          <a:ln/>
        </p:spPr>
        <p:txBody>
          <a:bodyPr wrap="square" lIns="0" tIns="0" rIns="0" bIns="0" rtlCol="0" anchor="t"/>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Admin Dashboard</a:t>
            </a:r>
            <a:endParaRPr lang="en-US" sz="950" dirty="0"/>
          </a:p>
        </p:txBody>
      </p:sp>
      <p:pic>
        <p:nvPicPr>
          <p:cNvPr id="43" name="Image 14" descr="/home/claude/icons/arrowRight_9FB0D8.png">    </p:cNvPr>
          <p:cNvPicPr>
            <a:picLocks noChangeAspect="1"/>
          </p:cNvPicPr>
          <p:nvPr/>
        </p:nvPicPr>
        <p:blipFill>
          <a:blip r:embed="rId15"/>
          <a:stretch>
            <a:fillRect/>
          </a:stretch>
        </p:blipFill>
        <p:spPr>
          <a:xfrm>
            <a:off x="6007608" y="3378708"/>
            <a:ext cx="146304" cy="146304"/>
          </a:xfrm>
          <a:prstGeom prst="rect">
            <a:avLst/>
          </a:prstGeom>
        </p:spPr>
      </p:pic>
      <p:sp>
        <p:nvSpPr>
          <p:cNvPr id="44" name="Shape 27"/>
          <p:cNvSpPr/>
          <p:nvPr/>
        </p:nvSpPr>
        <p:spPr>
          <a:xfrm>
            <a:off x="6163056" y="2926080"/>
            <a:ext cx="2642616" cy="1051560"/>
          </a:xfrm>
          <a:prstGeom prst="roundRect">
            <a:avLst>
              <a:gd name="adj" fmla="val 6957"/>
            </a:avLst>
          </a:prstGeom>
          <a:solidFill>
            <a:srgbClr val="0B1533"/>
          </a:solidFill>
          <a:ln/>
        </p:spPr>
      </p:sp>
      <p:sp>
        <p:nvSpPr>
          <p:cNvPr id="45" name="Shape 28"/>
          <p:cNvSpPr/>
          <p:nvPr/>
        </p:nvSpPr>
        <p:spPr>
          <a:xfrm>
            <a:off x="7283196" y="3054096"/>
            <a:ext cx="402336" cy="402336"/>
          </a:xfrm>
          <a:prstGeom prst="ellipse">
            <a:avLst/>
          </a:prstGeom>
          <a:solidFill>
            <a:srgbClr val="16204A"/>
          </a:solidFill>
          <a:ln/>
        </p:spPr>
      </p:sp>
      <p:pic>
        <p:nvPicPr>
          <p:cNvPr id="46" name="Image 15" descr="/home/claude/icons/layers_CADCFC.png">    </p:cNvPr>
          <p:cNvPicPr>
            <a:picLocks noChangeAspect="1"/>
          </p:cNvPicPr>
          <p:nvPr/>
        </p:nvPicPr>
        <p:blipFill>
          <a:blip r:embed="rId16"/>
          <a:stretch>
            <a:fillRect/>
          </a:stretch>
        </p:blipFill>
        <p:spPr>
          <a:xfrm>
            <a:off x="7373722" y="3144622"/>
            <a:ext cx="221285" cy="221285"/>
          </a:xfrm>
          <a:prstGeom prst="rect">
            <a:avLst/>
          </a:prstGeom>
        </p:spPr>
      </p:pic>
      <p:sp>
        <p:nvSpPr>
          <p:cNvPr id="47" name="Text 29"/>
          <p:cNvSpPr/>
          <p:nvPr/>
        </p:nvSpPr>
        <p:spPr>
          <a:xfrm>
            <a:off x="6208776" y="3493008"/>
            <a:ext cx="2551176" cy="438912"/>
          </a:xfrm>
          <a:prstGeom prst="rect">
            <a:avLst/>
          </a:prstGeom>
          <a:noFill/>
          <a:ln/>
        </p:spPr>
        <p:txBody>
          <a:bodyPr wrap="square" lIns="0" tIns="0" rIns="0" bIns="0" rtlCol="0" anchor="t"/>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Services / Documents /</a:t>
            </a:r>
            <a:endParaRPr lang="en-US" sz="950" dirty="0"/>
          </a:p>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Questions / Rules</a:t>
            </a:r>
            <a:endParaRPr lang="en-US" sz="950" dirty="0"/>
          </a:p>
        </p:txBody>
      </p:sp>
      <p:pic>
        <p:nvPicPr>
          <p:cNvPr id="48" name="Image 16" descr="/home/claude/icons/arrowRight_9FB0D8.png">    </p:cNvPr>
          <p:cNvPicPr>
            <a:picLocks noChangeAspect="1"/>
          </p:cNvPicPr>
          <p:nvPr/>
        </p:nvPicPr>
        <p:blipFill>
          <a:blip r:embed="rId17"/>
          <a:stretch>
            <a:fillRect/>
          </a:stretch>
        </p:blipFill>
        <p:spPr>
          <a:xfrm>
            <a:off x="8814816" y="3378708"/>
            <a:ext cx="146304" cy="146304"/>
          </a:xfrm>
          <a:prstGeom prst="rect">
            <a:avLst/>
          </a:prstGeom>
        </p:spPr>
      </p:pic>
      <p:sp>
        <p:nvSpPr>
          <p:cNvPr id="49" name="Shape 30"/>
          <p:cNvSpPr/>
          <p:nvPr/>
        </p:nvSpPr>
        <p:spPr>
          <a:xfrm>
            <a:off x="8970264" y="2926080"/>
            <a:ext cx="2642616" cy="1051560"/>
          </a:xfrm>
          <a:prstGeom prst="roundRect">
            <a:avLst>
              <a:gd name="adj" fmla="val 6957"/>
            </a:avLst>
          </a:prstGeom>
          <a:solidFill>
            <a:srgbClr val="0B1533"/>
          </a:solidFill>
          <a:ln/>
        </p:spPr>
      </p:sp>
      <p:sp>
        <p:nvSpPr>
          <p:cNvPr id="50" name="Shape 31"/>
          <p:cNvSpPr/>
          <p:nvPr/>
        </p:nvSpPr>
        <p:spPr>
          <a:xfrm>
            <a:off x="10090404" y="3054096"/>
            <a:ext cx="402336" cy="402336"/>
          </a:xfrm>
          <a:prstGeom prst="ellipse">
            <a:avLst/>
          </a:prstGeom>
          <a:solidFill>
            <a:srgbClr val="16204A"/>
          </a:solidFill>
          <a:ln/>
        </p:spPr>
      </p:sp>
      <p:pic>
        <p:nvPicPr>
          <p:cNvPr id="51" name="Image 17" descr="/home/claude/icons/database_CADCFC.png">    </p:cNvPr>
          <p:cNvPicPr>
            <a:picLocks noChangeAspect="1"/>
          </p:cNvPicPr>
          <p:nvPr/>
        </p:nvPicPr>
        <p:blipFill>
          <a:blip r:embed="rId18"/>
          <a:stretch>
            <a:fillRect/>
          </a:stretch>
        </p:blipFill>
        <p:spPr>
          <a:xfrm>
            <a:off x="10180930" y="3144622"/>
            <a:ext cx="221285" cy="221285"/>
          </a:xfrm>
          <a:prstGeom prst="rect">
            <a:avLst/>
          </a:prstGeom>
        </p:spPr>
      </p:pic>
      <p:sp>
        <p:nvSpPr>
          <p:cNvPr id="52" name="Text 32"/>
          <p:cNvSpPr/>
          <p:nvPr/>
        </p:nvSpPr>
        <p:spPr>
          <a:xfrm>
            <a:off x="9015984" y="3493008"/>
            <a:ext cx="2551176" cy="438912"/>
          </a:xfrm>
          <a:prstGeom prst="rect">
            <a:avLst/>
          </a:prstGeom>
          <a:noFill/>
          <a:ln/>
        </p:spPr>
        <p:txBody>
          <a:bodyPr wrap="square" lIns="0" tIns="0" rIns="0" bIns="0" rtlCol="0" anchor="t"/>
          <a:lstStyle/>
          <a:p>
            <a:pPr algn="ctr" indent="0" marL="0">
              <a:lnSpc>
                <a:spcPct val="100000"/>
              </a:lnSpc>
              <a:buNone/>
            </a:pPr>
            <a:r>
              <a:rPr lang="en-US" sz="950" b="1" dirty="0">
                <a:solidFill>
                  <a:srgbClr val="FFFFFF"/>
                </a:solidFill>
                <a:latin typeface="Calibri" pitchFamily="34" charset="0"/>
                <a:ea typeface="Calibri" pitchFamily="34" charset="-122"/>
                <a:cs typeface="Calibri" pitchFamily="34" charset="-120"/>
              </a:rPr>
              <a:t>Database</a:t>
            </a:r>
            <a:endParaRPr lang="en-US" sz="950" dirty="0"/>
          </a:p>
        </p:txBody>
      </p:sp>
      <p:sp>
        <p:nvSpPr>
          <p:cNvPr id="53" name="Text 33"/>
          <p:cNvSpPr/>
          <p:nvPr/>
        </p:nvSpPr>
        <p:spPr>
          <a:xfrm>
            <a:off x="548640" y="4279392"/>
            <a:ext cx="4572000" cy="274320"/>
          </a:xfrm>
          <a:prstGeom prst="rect">
            <a:avLst/>
          </a:prstGeom>
          <a:noFill/>
          <a:ln/>
        </p:spPr>
        <p:txBody>
          <a:bodyPr wrap="square" lIns="0" tIns="0" rIns="0" bIns="0" rtlCol="0" anchor="ctr"/>
          <a:lstStyle/>
          <a:p>
            <a:pPr algn="l" indent="0" marL="0">
              <a:buNone/>
            </a:pPr>
            <a:r>
              <a:rPr lang="en-US" sz="1100" b="1" spc="120" kern="0" dirty="0">
                <a:solidFill>
                  <a:srgbClr val="3B5BDB"/>
                </a:solidFill>
                <a:latin typeface="Calibri" pitchFamily="34" charset="0"/>
                <a:ea typeface="Calibri" pitchFamily="34" charset="-122"/>
                <a:cs typeface="Calibri" pitchFamily="34" charset="-120"/>
              </a:rPr>
              <a:t>TECHNOLOGY LAYERS</a:t>
            </a:r>
            <a:endParaRPr lang="en-US" sz="1100" dirty="0"/>
          </a:p>
        </p:txBody>
      </p:sp>
      <p:sp>
        <p:nvSpPr>
          <p:cNvPr id="54" name="Shape 34"/>
          <p:cNvSpPr/>
          <p:nvPr/>
        </p:nvSpPr>
        <p:spPr>
          <a:xfrm>
            <a:off x="548640" y="4590288"/>
            <a:ext cx="2651760" cy="1554480"/>
          </a:xfrm>
          <a:prstGeom prst="roundRect">
            <a:avLst>
              <a:gd name="adj" fmla="val 5294"/>
            </a:avLst>
          </a:prstGeom>
          <a:solidFill>
            <a:srgbClr val="F3F6FC"/>
          </a:solidFill>
          <a:ln w="9525">
            <a:solidFill>
              <a:srgbClr val="D8E1F5"/>
            </a:solidFill>
            <a:prstDash val="solid"/>
          </a:ln>
        </p:spPr>
      </p:sp>
      <p:sp>
        <p:nvSpPr>
          <p:cNvPr id="55" name="Shape 35"/>
          <p:cNvSpPr/>
          <p:nvPr/>
        </p:nvSpPr>
        <p:spPr>
          <a:xfrm>
            <a:off x="1618488" y="4791456"/>
            <a:ext cx="512064" cy="512064"/>
          </a:xfrm>
          <a:prstGeom prst="ellipse">
            <a:avLst/>
          </a:prstGeom>
          <a:solidFill>
            <a:srgbClr val="FFFFFF"/>
          </a:solidFill>
          <a:ln/>
        </p:spPr>
      </p:sp>
      <p:pic>
        <p:nvPicPr>
          <p:cNvPr id="56" name="Image 18" descr="/home/claude/icons/globe_1E2761.png">    </p:cNvPr>
          <p:cNvPicPr>
            <a:picLocks noChangeAspect="1"/>
          </p:cNvPicPr>
          <p:nvPr/>
        </p:nvPicPr>
        <p:blipFill>
          <a:blip r:embed="rId19"/>
          <a:stretch>
            <a:fillRect/>
          </a:stretch>
        </p:blipFill>
        <p:spPr>
          <a:xfrm>
            <a:off x="1733702" y="4906670"/>
            <a:ext cx="281635" cy="281635"/>
          </a:xfrm>
          <a:prstGeom prst="rect">
            <a:avLst/>
          </a:prstGeom>
        </p:spPr>
      </p:pic>
      <p:sp>
        <p:nvSpPr>
          <p:cNvPr id="57" name="Text 36"/>
          <p:cNvSpPr/>
          <p:nvPr/>
        </p:nvSpPr>
        <p:spPr>
          <a:xfrm>
            <a:off x="640080" y="5413248"/>
            <a:ext cx="2468880" cy="320040"/>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Frontend</a:t>
            </a:r>
            <a:endParaRPr lang="en-US" sz="1300" dirty="0"/>
          </a:p>
        </p:txBody>
      </p:sp>
      <p:sp>
        <p:nvSpPr>
          <p:cNvPr id="58" name="Text 37"/>
          <p:cNvSpPr/>
          <p:nvPr/>
        </p:nvSpPr>
        <p:spPr>
          <a:xfrm>
            <a:off x="685800" y="5724144"/>
            <a:ext cx="2377440" cy="365760"/>
          </a:xfrm>
          <a:prstGeom prst="rect">
            <a:avLst/>
          </a:prstGeom>
          <a:noFill/>
          <a:ln/>
        </p:spPr>
        <p:txBody>
          <a:bodyPr wrap="square" lIns="0" tIns="0" rIns="0" bIns="0" rtlCol="0" anchor="ctr"/>
          <a:lstStyle/>
          <a:p>
            <a:pPr algn="ctr" indent="0" marL="0">
              <a:lnSpc>
                <a:spcPct val="105000"/>
              </a:lnSpc>
              <a:buNone/>
            </a:pPr>
            <a:r>
              <a:rPr lang="en-US" sz="1000" dirty="0">
                <a:solidFill>
                  <a:srgbClr val="5C6B8A"/>
                </a:solidFill>
                <a:latin typeface="Calibri" pitchFamily="34" charset="0"/>
                <a:ea typeface="Calibri" pitchFamily="34" charset="-122"/>
                <a:cs typeface="Calibri" pitchFamily="34" charset="-120"/>
              </a:rPr>
              <a:t>Public web interface</a:t>
            </a:r>
            <a:endParaRPr lang="en-US" sz="1000" dirty="0"/>
          </a:p>
        </p:txBody>
      </p:sp>
      <p:sp>
        <p:nvSpPr>
          <p:cNvPr id="59" name="Shape 38"/>
          <p:cNvSpPr/>
          <p:nvPr/>
        </p:nvSpPr>
        <p:spPr>
          <a:xfrm>
            <a:off x="3374136" y="4590288"/>
            <a:ext cx="2651760" cy="1554480"/>
          </a:xfrm>
          <a:prstGeom prst="roundRect">
            <a:avLst>
              <a:gd name="adj" fmla="val 5294"/>
            </a:avLst>
          </a:prstGeom>
          <a:solidFill>
            <a:srgbClr val="F3F6FC"/>
          </a:solidFill>
          <a:ln w="9525">
            <a:solidFill>
              <a:srgbClr val="D8E1F5"/>
            </a:solidFill>
            <a:prstDash val="solid"/>
          </a:ln>
        </p:spPr>
      </p:sp>
      <p:sp>
        <p:nvSpPr>
          <p:cNvPr id="60" name="Shape 39"/>
          <p:cNvSpPr/>
          <p:nvPr/>
        </p:nvSpPr>
        <p:spPr>
          <a:xfrm>
            <a:off x="4443984" y="4791456"/>
            <a:ext cx="512064" cy="512064"/>
          </a:xfrm>
          <a:prstGeom prst="ellipse">
            <a:avLst/>
          </a:prstGeom>
          <a:solidFill>
            <a:srgbClr val="FFFFFF"/>
          </a:solidFill>
          <a:ln/>
        </p:spPr>
      </p:sp>
      <p:pic>
        <p:nvPicPr>
          <p:cNvPr id="61" name="Image 19" descr="/home/claude/icons/api_1E2761.png">    </p:cNvPr>
          <p:cNvPicPr>
            <a:picLocks noChangeAspect="1"/>
          </p:cNvPicPr>
          <p:nvPr/>
        </p:nvPicPr>
        <p:blipFill>
          <a:blip r:embed="rId20"/>
          <a:stretch>
            <a:fillRect/>
          </a:stretch>
        </p:blipFill>
        <p:spPr>
          <a:xfrm>
            <a:off x="4559198" y="4906670"/>
            <a:ext cx="281635" cy="281635"/>
          </a:xfrm>
          <a:prstGeom prst="rect">
            <a:avLst/>
          </a:prstGeom>
        </p:spPr>
      </p:pic>
      <p:sp>
        <p:nvSpPr>
          <p:cNvPr id="62" name="Text 40"/>
          <p:cNvSpPr/>
          <p:nvPr/>
        </p:nvSpPr>
        <p:spPr>
          <a:xfrm>
            <a:off x="3465576" y="5413248"/>
            <a:ext cx="2468880" cy="320040"/>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Backend API</a:t>
            </a:r>
            <a:endParaRPr lang="en-US" sz="1300" dirty="0"/>
          </a:p>
        </p:txBody>
      </p:sp>
      <p:sp>
        <p:nvSpPr>
          <p:cNvPr id="63" name="Text 41"/>
          <p:cNvSpPr/>
          <p:nvPr/>
        </p:nvSpPr>
        <p:spPr>
          <a:xfrm>
            <a:off x="3511296" y="5724144"/>
            <a:ext cx="2377440" cy="365760"/>
          </a:xfrm>
          <a:prstGeom prst="rect">
            <a:avLst/>
          </a:prstGeom>
          <a:noFill/>
          <a:ln/>
        </p:spPr>
        <p:txBody>
          <a:bodyPr wrap="square" lIns="0" tIns="0" rIns="0" bIns="0" rtlCol="0" anchor="ctr"/>
          <a:lstStyle/>
          <a:p>
            <a:pPr algn="ctr" indent="0" marL="0">
              <a:lnSpc>
                <a:spcPct val="105000"/>
              </a:lnSpc>
              <a:buNone/>
            </a:pPr>
            <a:r>
              <a:rPr lang="en-US" sz="1000" dirty="0">
                <a:solidFill>
                  <a:srgbClr val="5C6B8A"/>
                </a:solidFill>
                <a:latin typeface="Calibri" pitchFamily="34" charset="0"/>
                <a:ea typeface="Calibri" pitchFamily="34" charset="-122"/>
                <a:cs typeface="Calibri" pitchFamily="34" charset="-120"/>
              </a:rPr>
              <a:t>REST-based services</a:t>
            </a:r>
            <a:endParaRPr lang="en-US" sz="1000" dirty="0"/>
          </a:p>
        </p:txBody>
      </p:sp>
      <p:sp>
        <p:nvSpPr>
          <p:cNvPr id="64" name="Shape 42"/>
          <p:cNvSpPr/>
          <p:nvPr/>
        </p:nvSpPr>
        <p:spPr>
          <a:xfrm>
            <a:off x="6199632" y="4590288"/>
            <a:ext cx="2651760" cy="1554480"/>
          </a:xfrm>
          <a:prstGeom prst="roundRect">
            <a:avLst>
              <a:gd name="adj" fmla="val 5294"/>
            </a:avLst>
          </a:prstGeom>
          <a:solidFill>
            <a:srgbClr val="F3F6FC"/>
          </a:solidFill>
          <a:ln w="9525">
            <a:solidFill>
              <a:srgbClr val="D8E1F5"/>
            </a:solidFill>
            <a:prstDash val="solid"/>
          </a:ln>
        </p:spPr>
      </p:sp>
      <p:sp>
        <p:nvSpPr>
          <p:cNvPr id="65" name="Shape 43"/>
          <p:cNvSpPr/>
          <p:nvPr/>
        </p:nvSpPr>
        <p:spPr>
          <a:xfrm>
            <a:off x="7269480" y="4791456"/>
            <a:ext cx="512064" cy="512064"/>
          </a:xfrm>
          <a:prstGeom prst="ellipse">
            <a:avLst/>
          </a:prstGeom>
          <a:solidFill>
            <a:srgbClr val="FFFFFF"/>
          </a:solidFill>
          <a:ln/>
        </p:spPr>
      </p:sp>
      <p:pic>
        <p:nvPicPr>
          <p:cNvPr id="66" name="Image 20" descr="/home/claude/icons/gear_1E2761.png">    </p:cNvPr>
          <p:cNvPicPr>
            <a:picLocks noChangeAspect="1"/>
          </p:cNvPicPr>
          <p:nvPr/>
        </p:nvPicPr>
        <p:blipFill>
          <a:blip r:embed="rId21"/>
          <a:stretch>
            <a:fillRect/>
          </a:stretch>
        </p:blipFill>
        <p:spPr>
          <a:xfrm>
            <a:off x="7384694" y="4906670"/>
            <a:ext cx="281635" cy="281635"/>
          </a:xfrm>
          <a:prstGeom prst="rect">
            <a:avLst/>
          </a:prstGeom>
        </p:spPr>
      </p:pic>
      <p:sp>
        <p:nvSpPr>
          <p:cNvPr id="67" name="Text 44"/>
          <p:cNvSpPr/>
          <p:nvPr/>
        </p:nvSpPr>
        <p:spPr>
          <a:xfrm>
            <a:off x="6291072" y="5413248"/>
            <a:ext cx="2468880" cy="320040"/>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Rule Engine</a:t>
            </a:r>
            <a:endParaRPr lang="en-US" sz="1300" dirty="0"/>
          </a:p>
        </p:txBody>
      </p:sp>
      <p:sp>
        <p:nvSpPr>
          <p:cNvPr id="68" name="Text 45"/>
          <p:cNvSpPr/>
          <p:nvPr/>
        </p:nvSpPr>
        <p:spPr>
          <a:xfrm>
            <a:off x="6336792" y="5724144"/>
            <a:ext cx="2377440" cy="365760"/>
          </a:xfrm>
          <a:prstGeom prst="rect">
            <a:avLst/>
          </a:prstGeom>
          <a:noFill/>
          <a:ln/>
        </p:spPr>
        <p:txBody>
          <a:bodyPr wrap="square" lIns="0" tIns="0" rIns="0" bIns="0" rtlCol="0" anchor="ctr"/>
          <a:lstStyle/>
          <a:p>
            <a:pPr algn="ctr" indent="0" marL="0">
              <a:lnSpc>
                <a:spcPct val="105000"/>
              </a:lnSpc>
              <a:buNone/>
            </a:pPr>
            <a:r>
              <a:rPr lang="en-US" sz="1000" dirty="0">
                <a:solidFill>
                  <a:srgbClr val="5C6B8A"/>
                </a:solidFill>
                <a:latin typeface="Calibri" pitchFamily="34" charset="0"/>
                <a:ea typeface="Calibri" pitchFamily="34" charset="-122"/>
                <a:cs typeface="Calibri" pitchFamily="34" charset="-120"/>
              </a:rPr>
              <a:t>Requirement analysis logic</a:t>
            </a:r>
            <a:endParaRPr lang="en-US" sz="1000" dirty="0"/>
          </a:p>
        </p:txBody>
      </p:sp>
      <p:sp>
        <p:nvSpPr>
          <p:cNvPr id="69" name="Shape 46"/>
          <p:cNvSpPr/>
          <p:nvPr/>
        </p:nvSpPr>
        <p:spPr>
          <a:xfrm>
            <a:off x="9025128" y="4590288"/>
            <a:ext cx="2651760" cy="1554480"/>
          </a:xfrm>
          <a:prstGeom prst="roundRect">
            <a:avLst>
              <a:gd name="adj" fmla="val 5294"/>
            </a:avLst>
          </a:prstGeom>
          <a:solidFill>
            <a:srgbClr val="F3F6FC"/>
          </a:solidFill>
          <a:ln w="9525">
            <a:solidFill>
              <a:srgbClr val="D8E1F5"/>
            </a:solidFill>
            <a:prstDash val="solid"/>
          </a:ln>
        </p:spPr>
      </p:sp>
      <p:sp>
        <p:nvSpPr>
          <p:cNvPr id="70" name="Shape 47"/>
          <p:cNvSpPr/>
          <p:nvPr/>
        </p:nvSpPr>
        <p:spPr>
          <a:xfrm>
            <a:off x="10094976" y="4791456"/>
            <a:ext cx="512064" cy="512064"/>
          </a:xfrm>
          <a:prstGeom prst="ellipse">
            <a:avLst/>
          </a:prstGeom>
          <a:solidFill>
            <a:srgbClr val="FFFFFF"/>
          </a:solidFill>
          <a:ln/>
        </p:spPr>
      </p:sp>
      <p:pic>
        <p:nvPicPr>
          <p:cNvPr id="71" name="Image 21" descr="/home/claude/icons/database_1E2761.png">    </p:cNvPr>
          <p:cNvPicPr>
            <a:picLocks noChangeAspect="1"/>
          </p:cNvPicPr>
          <p:nvPr/>
        </p:nvPicPr>
        <p:blipFill>
          <a:blip r:embed="rId22"/>
          <a:stretch>
            <a:fillRect/>
          </a:stretch>
        </p:blipFill>
        <p:spPr>
          <a:xfrm>
            <a:off x="10210190" y="4906670"/>
            <a:ext cx="281635" cy="281635"/>
          </a:xfrm>
          <a:prstGeom prst="rect">
            <a:avLst/>
          </a:prstGeom>
        </p:spPr>
      </p:pic>
      <p:sp>
        <p:nvSpPr>
          <p:cNvPr id="72" name="Text 48"/>
          <p:cNvSpPr/>
          <p:nvPr/>
        </p:nvSpPr>
        <p:spPr>
          <a:xfrm>
            <a:off x="9116568" y="5413248"/>
            <a:ext cx="2468880" cy="320040"/>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Database</a:t>
            </a:r>
            <a:endParaRPr lang="en-US" sz="1300" dirty="0"/>
          </a:p>
        </p:txBody>
      </p:sp>
      <p:sp>
        <p:nvSpPr>
          <p:cNvPr id="73" name="Text 49"/>
          <p:cNvSpPr/>
          <p:nvPr/>
        </p:nvSpPr>
        <p:spPr>
          <a:xfrm>
            <a:off x="9162288" y="5724144"/>
            <a:ext cx="2377440" cy="365760"/>
          </a:xfrm>
          <a:prstGeom prst="rect">
            <a:avLst/>
          </a:prstGeom>
          <a:noFill/>
          <a:ln/>
        </p:spPr>
        <p:txBody>
          <a:bodyPr wrap="square" lIns="0" tIns="0" rIns="0" bIns="0" rtlCol="0" anchor="ctr"/>
          <a:lstStyle/>
          <a:p>
            <a:pPr algn="ctr" indent="0" marL="0">
              <a:lnSpc>
                <a:spcPct val="105000"/>
              </a:lnSpc>
              <a:buNone/>
            </a:pPr>
            <a:r>
              <a:rPr lang="en-US" sz="1000" dirty="0">
                <a:solidFill>
                  <a:srgbClr val="5C6B8A"/>
                </a:solidFill>
                <a:latin typeface="Calibri" pitchFamily="34" charset="0"/>
                <a:ea typeface="Calibri" pitchFamily="34" charset="-122"/>
                <a:cs typeface="Calibri" pitchFamily="34" charset="-120"/>
              </a:rPr>
              <a:t>Centralized data store</a:t>
            </a:r>
            <a:endParaRPr lang="en-US" sz="1000" dirty="0"/>
          </a:p>
        </p:txBody>
      </p:sp>
      <p:sp>
        <p:nvSpPr>
          <p:cNvPr id="74" name="Text 5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Citizen Application Document Checklist Generator</a:t>
            </a:r>
            <a:endParaRPr lang="en-US" sz="900" dirty="0"/>
          </a:p>
        </p:txBody>
      </p:sp>
      <p:sp>
        <p:nvSpPr>
          <p:cNvPr id="75" name="Text 5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Security, Quality &amp; Expected Benefits</a:t>
            </a:r>
            <a:endParaRPr lang="en-US" sz="3000" dirty="0"/>
          </a:p>
        </p:txBody>
      </p:sp>
      <p:sp>
        <p:nvSpPr>
          <p:cNvPr id="3" name="Shape 1"/>
          <p:cNvSpPr/>
          <p:nvPr/>
        </p:nvSpPr>
        <p:spPr>
          <a:xfrm>
            <a:off x="548640" y="1417320"/>
            <a:ext cx="3639312" cy="4800600"/>
          </a:xfrm>
          <a:prstGeom prst="roundRect">
            <a:avLst>
              <a:gd name="adj" fmla="val 2513"/>
            </a:avLst>
          </a:prstGeom>
          <a:solidFill>
            <a:srgbClr val="0B1533"/>
          </a:solidFill>
          <a:ln/>
        </p:spPr>
      </p:sp>
      <p:sp>
        <p:nvSpPr>
          <p:cNvPr id="4" name="Shape 2"/>
          <p:cNvSpPr/>
          <p:nvPr/>
        </p:nvSpPr>
        <p:spPr>
          <a:xfrm>
            <a:off x="749808" y="1618488"/>
            <a:ext cx="512064" cy="512064"/>
          </a:xfrm>
          <a:prstGeom prst="ellipse">
            <a:avLst/>
          </a:prstGeom>
          <a:solidFill>
            <a:srgbClr val="16204A"/>
          </a:solidFill>
          <a:ln/>
        </p:spPr>
      </p:sp>
      <p:pic>
        <p:nvPicPr>
          <p:cNvPr id="5" name="Image 0" descr="/home/claude/icons/security_CADCFC.png">    </p:cNvPr>
          <p:cNvPicPr>
            <a:picLocks noChangeAspect="1"/>
          </p:cNvPicPr>
          <p:nvPr/>
        </p:nvPicPr>
        <p:blipFill>
          <a:blip r:embed="rId1"/>
          <a:stretch>
            <a:fillRect/>
          </a:stretch>
        </p:blipFill>
        <p:spPr>
          <a:xfrm>
            <a:off x="865022" y="1733702"/>
            <a:ext cx="281635" cy="281635"/>
          </a:xfrm>
          <a:prstGeom prst="rect">
            <a:avLst/>
          </a:prstGeom>
        </p:spPr>
      </p:pic>
      <p:sp>
        <p:nvSpPr>
          <p:cNvPr id="6" name="Text 3"/>
          <p:cNvSpPr/>
          <p:nvPr/>
        </p:nvSpPr>
        <p:spPr>
          <a:xfrm>
            <a:off x="1371600" y="1636776"/>
            <a:ext cx="2633472" cy="457200"/>
          </a:xfrm>
          <a:prstGeom prst="rect">
            <a:avLst/>
          </a:prstGeom>
          <a:noFill/>
          <a:ln/>
        </p:spPr>
        <p:txBody>
          <a:bodyPr wrap="square" lIns="0" tIns="0" rIns="0" bIns="0" rtlCol="0" anchor="ctr"/>
          <a:lstStyle/>
          <a:p>
            <a:pPr algn="l" indent="0" marL="0">
              <a:buNone/>
            </a:pPr>
            <a:r>
              <a:rPr lang="en-US" sz="1450" b="1" dirty="0">
                <a:solidFill>
                  <a:srgbClr val="FFFFFF"/>
                </a:solidFill>
                <a:latin typeface="Cambria" pitchFamily="34" charset="0"/>
                <a:ea typeface="Cambria" pitchFamily="34" charset="-122"/>
                <a:cs typeface="Cambria" pitchFamily="34" charset="-120"/>
              </a:rPr>
              <a:t>Security</a:t>
            </a:r>
            <a:endParaRPr lang="en-US" sz="1450" dirty="0"/>
          </a:p>
        </p:txBody>
      </p:sp>
      <p:pic>
        <p:nvPicPr>
          <p:cNvPr id="7" name="Image 1" descr="/home/claude/icons/check_CADCFC.png">    </p:cNvPr>
          <p:cNvPicPr>
            <a:picLocks noChangeAspect="1"/>
          </p:cNvPicPr>
          <p:nvPr/>
        </p:nvPicPr>
        <p:blipFill>
          <a:blip r:embed="rId2"/>
          <a:stretch>
            <a:fillRect/>
          </a:stretch>
        </p:blipFill>
        <p:spPr>
          <a:xfrm>
            <a:off x="804672" y="2526357"/>
            <a:ext cx="164592" cy="164592"/>
          </a:xfrm>
          <a:prstGeom prst="rect">
            <a:avLst/>
          </a:prstGeom>
        </p:spPr>
      </p:pic>
      <p:sp>
        <p:nvSpPr>
          <p:cNvPr id="8" name="Text 4"/>
          <p:cNvSpPr/>
          <p:nvPr/>
        </p:nvSpPr>
        <p:spPr>
          <a:xfrm>
            <a:off x="1060704" y="2331720"/>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JWT-based administrator authentication</a:t>
            </a:r>
            <a:endParaRPr lang="en-US" sz="1080" dirty="0"/>
          </a:p>
        </p:txBody>
      </p:sp>
      <p:pic>
        <p:nvPicPr>
          <p:cNvPr id="9" name="Image 2" descr="/home/claude/icons/check_CADCFC.png">    </p:cNvPr>
          <p:cNvPicPr>
            <a:picLocks noChangeAspect="1"/>
          </p:cNvPicPr>
          <p:nvPr/>
        </p:nvPicPr>
        <p:blipFill>
          <a:blip r:embed="rId3"/>
          <a:stretch>
            <a:fillRect/>
          </a:stretch>
        </p:blipFill>
        <p:spPr>
          <a:xfrm>
            <a:off x="804672" y="3061934"/>
            <a:ext cx="164592" cy="164592"/>
          </a:xfrm>
          <a:prstGeom prst="rect">
            <a:avLst/>
          </a:prstGeom>
        </p:spPr>
      </p:pic>
      <p:sp>
        <p:nvSpPr>
          <p:cNvPr id="10" name="Text 5"/>
          <p:cNvSpPr/>
          <p:nvPr/>
        </p:nvSpPr>
        <p:spPr>
          <a:xfrm>
            <a:off x="1060704" y="2867297"/>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Bcrypt password hashing</a:t>
            </a:r>
            <a:endParaRPr lang="en-US" sz="1080" dirty="0"/>
          </a:p>
        </p:txBody>
      </p:sp>
      <p:pic>
        <p:nvPicPr>
          <p:cNvPr id="11" name="Image 3" descr="/home/claude/icons/check_CADCFC.png">    </p:cNvPr>
          <p:cNvPicPr>
            <a:picLocks noChangeAspect="1"/>
          </p:cNvPicPr>
          <p:nvPr/>
        </p:nvPicPr>
        <p:blipFill>
          <a:blip r:embed="rId4"/>
          <a:stretch>
            <a:fillRect/>
          </a:stretch>
        </p:blipFill>
        <p:spPr>
          <a:xfrm>
            <a:off x="804672" y="3597511"/>
            <a:ext cx="164592" cy="164592"/>
          </a:xfrm>
          <a:prstGeom prst="rect">
            <a:avLst/>
          </a:prstGeom>
        </p:spPr>
      </p:pic>
      <p:sp>
        <p:nvSpPr>
          <p:cNvPr id="12" name="Text 6"/>
          <p:cNvSpPr/>
          <p:nvPr/>
        </p:nvSpPr>
        <p:spPr>
          <a:xfrm>
            <a:off x="1060704" y="3402874"/>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Role-based administrative access</a:t>
            </a:r>
            <a:endParaRPr lang="en-US" sz="1080" dirty="0"/>
          </a:p>
        </p:txBody>
      </p:sp>
      <p:pic>
        <p:nvPicPr>
          <p:cNvPr id="13" name="Image 4" descr="/home/claude/icons/check_CADCFC.png">    </p:cNvPr>
          <p:cNvPicPr>
            <a:picLocks noChangeAspect="1"/>
          </p:cNvPicPr>
          <p:nvPr/>
        </p:nvPicPr>
        <p:blipFill>
          <a:blip r:embed="rId5"/>
          <a:stretch>
            <a:fillRect/>
          </a:stretch>
        </p:blipFill>
        <p:spPr>
          <a:xfrm>
            <a:off x="804672" y="4133088"/>
            <a:ext cx="164592" cy="164592"/>
          </a:xfrm>
          <a:prstGeom prst="rect">
            <a:avLst/>
          </a:prstGeom>
        </p:spPr>
      </p:pic>
      <p:sp>
        <p:nvSpPr>
          <p:cNvPr id="14" name="Text 7"/>
          <p:cNvSpPr/>
          <p:nvPr/>
        </p:nvSpPr>
        <p:spPr>
          <a:xfrm>
            <a:off x="1060704" y="3938451"/>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Protected management APIs</a:t>
            </a:r>
            <a:endParaRPr lang="en-US" sz="1080" dirty="0"/>
          </a:p>
        </p:txBody>
      </p:sp>
      <p:pic>
        <p:nvPicPr>
          <p:cNvPr id="15" name="Image 5" descr="/home/claude/icons/check_CADCFC.png">    </p:cNvPr>
          <p:cNvPicPr>
            <a:picLocks noChangeAspect="1"/>
          </p:cNvPicPr>
          <p:nvPr/>
        </p:nvPicPr>
        <p:blipFill>
          <a:blip r:embed="rId6"/>
          <a:stretch>
            <a:fillRect/>
          </a:stretch>
        </p:blipFill>
        <p:spPr>
          <a:xfrm>
            <a:off x="804672" y="4668665"/>
            <a:ext cx="164592" cy="164592"/>
          </a:xfrm>
          <a:prstGeom prst="rect">
            <a:avLst/>
          </a:prstGeom>
        </p:spPr>
      </p:pic>
      <p:sp>
        <p:nvSpPr>
          <p:cNvPr id="16" name="Text 8"/>
          <p:cNvSpPr/>
          <p:nvPr/>
        </p:nvSpPr>
        <p:spPr>
          <a:xfrm>
            <a:off x="1060704" y="4474029"/>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MongoDB Atlas access controls</a:t>
            </a:r>
            <a:endParaRPr lang="en-US" sz="1080" dirty="0"/>
          </a:p>
        </p:txBody>
      </p:sp>
      <p:pic>
        <p:nvPicPr>
          <p:cNvPr id="17" name="Image 6" descr="/home/claude/icons/check_CADCFC.png">    </p:cNvPr>
          <p:cNvPicPr>
            <a:picLocks noChangeAspect="1"/>
          </p:cNvPicPr>
          <p:nvPr/>
        </p:nvPicPr>
        <p:blipFill>
          <a:blip r:embed="rId7"/>
          <a:stretch>
            <a:fillRect/>
          </a:stretch>
        </p:blipFill>
        <p:spPr>
          <a:xfrm>
            <a:off x="804672" y="5204242"/>
            <a:ext cx="164592" cy="164592"/>
          </a:xfrm>
          <a:prstGeom prst="rect">
            <a:avLst/>
          </a:prstGeom>
        </p:spPr>
      </p:pic>
      <p:sp>
        <p:nvSpPr>
          <p:cNvPr id="18" name="Text 9"/>
          <p:cNvSpPr/>
          <p:nvPr/>
        </p:nvSpPr>
        <p:spPr>
          <a:xfrm>
            <a:off x="1060704" y="5009606"/>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Input validation</a:t>
            </a:r>
            <a:endParaRPr lang="en-US" sz="1080" dirty="0"/>
          </a:p>
        </p:txBody>
      </p:sp>
      <p:pic>
        <p:nvPicPr>
          <p:cNvPr id="19" name="Image 7" descr="/home/claude/icons/check_CADCFC.png">    </p:cNvPr>
          <p:cNvPicPr>
            <a:picLocks noChangeAspect="1"/>
          </p:cNvPicPr>
          <p:nvPr/>
        </p:nvPicPr>
        <p:blipFill>
          <a:blip r:embed="rId8"/>
          <a:stretch>
            <a:fillRect/>
          </a:stretch>
        </p:blipFill>
        <p:spPr>
          <a:xfrm>
            <a:off x="804672" y="5739819"/>
            <a:ext cx="164592" cy="164592"/>
          </a:xfrm>
          <a:prstGeom prst="rect">
            <a:avLst/>
          </a:prstGeom>
        </p:spPr>
      </p:pic>
      <p:sp>
        <p:nvSpPr>
          <p:cNvPr id="20" name="Text 10"/>
          <p:cNvSpPr/>
          <p:nvPr/>
        </p:nvSpPr>
        <p:spPr>
          <a:xfrm>
            <a:off x="1060704" y="5545183"/>
            <a:ext cx="2907792" cy="535577"/>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Secure token / session management</a:t>
            </a:r>
            <a:endParaRPr lang="en-US" sz="1080" dirty="0"/>
          </a:p>
        </p:txBody>
      </p:sp>
      <p:sp>
        <p:nvSpPr>
          <p:cNvPr id="21" name="Shape 11"/>
          <p:cNvSpPr/>
          <p:nvPr/>
        </p:nvSpPr>
        <p:spPr>
          <a:xfrm>
            <a:off x="4334256" y="1417320"/>
            <a:ext cx="3639312" cy="4800600"/>
          </a:xfrm>
          <a:prstGeom prst="roundRect">
            <a:avLst>
              <a:gd name="adj" fmla="val 2513"/>
            </a:avLst>
          </a:prstGeom>
          <a:solidFill>
            <a:srgbClr val="F3F6FC"/>
          </a:solidFill>
          <a:ln/>
        </p:spPr>
      </p:sp>
      <p:sp>
        <p:nvSpPr>
          <p:cNvPr id="22" name="Shape 12"/>
          <p:cNvSpPr/>
          <p:nvPr/>
        </p:nvSpPr>
        <p:spPr>
          <a:xfrm>
            <a:off x="4535424" y="1618488"/>
            <a:ext cx="512064" cy="512064"/>
          </a:xfrm>
          <a:prstGeom prst="ellipse">
            <a:avLst/>
          </a:prstGeom>
          <a:solidFill>
            <a:srgbClr val="FFFFFF"/>
          </a:solidFill>
          <a:ln/>
        </p:spPr>
      </p:sp>
      <p:pic>
        <p:nvPicPr>
          <p:cNvPr id="23" name="Image 8" descr="/home/claude/icons/gear_1E2761.png">    </p:cNvPr>
          <p:cNvPicPr>
            <a:picLocks noChangeAspect="1"/>
          </p:cNvPicPr>
          <p:nvPr/>
        </p:nvPicPr>
        <p:blipFill>
          <a:blip r:embed="rId9"/>
          <a:stretch>
            <a:fillRect/>
          </a:stretch>
        </p:blipFill>
        <p:spPr>
          <a:xfrm>
            <a:off x="4650638" y="1733702"/>
            <a:ext cx="281635" cy="281635"/>
          </a:xfrm>
          <a:prstGeom prst="rect">
            <a:avLst/>
          </a:prstGeom>
        </p:spPr>
      </p:pic>
      <p:sp>
        <p:nvSpPr>
          <p:cNvPr id="24" name="Text 13"/>
          <p:cNvSpPr/>
          <p:nvPr/>
        </p:nvSpPr>
        <p:spPr>
          <a:xfrm>
            <a:off x="5157216" y="1636776"/>
            <a:ext cx="2633472" cy="457200"/>
          </a:xfrm>
          <a:prstGeom prst="rect">
            <a:avLst/>
          </a:prstGeom>
          <a:noFill/>
          <a:ln/>
        </p:spPr>
        <p:txBody>
          <a:bodyPr wrap="square" lIns="0" tIns="0" rIns="0" bIns="0" rtlCol="0" anchor="ctr"/>
          <a:lstStyle/>
          <a:p>
            <a:pPr algn="l" indent="0" marL="0">
              <a:buNone/>
            </a:pPr>
            <a:r>
              <a:rPr lang="en-US" sz="1450" b="1" dirty="0">
                <a:solidFill>
                  <a:srgbClr val="1B2440"/>
                </a:solidFill>
                <a:latin typeface="Cambria" pitchFamily="34" charset="0"/>
                <a:ea typeface="Cambria" pitchFamily="34" charset="-122"/>
                <a:cs typeface="Cambria" pitchFamily="34" charset="-120"/>
              </a:rPr>
              <a:t>System Quality</a:t>
            </a:r>
            <a:endParaRPr lang="en-US" sz="1450" dirty="0"/>
          </a:p>
        </p:txBody>
      </p:sp>
      <p:pic>
        <p:nvPicPr>
          <p:cNvPr id="25" name="Image 9" descr="/home/claude/icons/check_1E2761.png">    </p:cNvPr>
          <p:cNvPicPr>
            <a:picLocks noChangeAspect="1"/>
          </p:cNvPicPr>
          <p:nvPr/>
        </p:nvPicPr>
        <p:blipFill>
          <a:blip r:embed="rId10"/>
          <a:stretch>
            <a:fillRect/>
          </a:stretch>
        </p:blipFill>
        <p:spPr>
          <a:xfrm>
            <a:off x="4590288" y="2466848"/>
            <a:ext cx="164592" cy="164592"/>
          </a:xfrm>
          <a:prstGeom prst="rect">
            <a:avLst/>
          </a:prstGeom>
        </p:spPr>
      </p:pic>
      <p:sp>
        <p:nvSpPr>
          <p:cNvPr id="26" name="Text 14"/>
          <p:cNvSpPr/>
          <p:nvPr/>
        </p:nvSpPr>
        <p:spPr>
          <a:xfrm>
            <a:off x="4846320" y="233172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Fast checklist generation</a:t>
            </a:r>
            <a:endParaRPr lang="en-US" sz="1080" dirty="0"/>
          </a:p>
        </p:txBody>
      </p:sp>
      <p:pic>
        <p:nvPicPr>
          <p:cNvPr id="27" name="Image 10" descr="/home/claude/icons/check_1E2761.png">    </p:cNvPr>
          <p:cNvPicPr>
            <a:picLocks noChangeAspect="1"/>
          </p:cNvPicPr>
          <p:nvPr/>
        </p:nvPicPr>
        <p:blipFill>
          <a:blip r:embed="rId11"/>
          <a:stretch>
            <a:fillRect/>
          </a:stretch>
        </p:blipFill>
        <p:spPr>
          <a:xfrm>
            <a:off x="4590288" y="2883408"/>
            <a:ext cx="164592" cy="164592"/>
          </a:xfrm>
          <a:prstGeom prst="rect">
            <a:avLst/>
          </a:prstGeom>
        </p:spPr>
      </p:pic>
      <p:sp>
        <p:nvSpPr>
          <p:cNvPr id="28" name="Text 15"/>
          <p:cNvSpPr/>
          <p:nvPr/>
        </p:nvSpPr>
        <p:spPr>
          <a:xfrm>
            <a:off x="4846320" y="274828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Scalability</a:t>
            </a:r>
            <a:endParaRPr lang="en-US" sz="1080" dirty="0"/>
          </a:p>
        </p:txBody>
      </p:sp>
      <p:pic>
        <p:nvPicPr>
          <p:cNvPr id="29" name="Image 11" descr="/home/claude/icons/check_1E2761.png">    </p:cNvPr>
          <p:cNvPicPr>
            <a:picLocks noChangeAspect="1"/>
          </p:cNvPicPr>
          <p:nvPr/>
        </p:nvPicPr>
        <p:blipFill>
          <a:blip r:embed="rId12"/>
          <a:stretch>
            <a:fillRect/>
          </a:stretch>
        </p:blipFill>
        <p:spPr>
          <a:xfrm>
            <a:off x="4590288" y="3299968"/>
            <a:ext cx="164592" cy="164592"/>
          </a:xfrm>
          <a:prstGeom prst="rect">
            <a:avLst/>
          </a:prstGeom>
        </p:spPr>
      </p:pic>
      <p:sp>
        <p:nvSpPr>
          <p:cNvPr id="30" name="Text 16"/>
          <p:cNvSpPr/>
          <p:nvPr/>
        </p:nvSpPr>
        <p:spPr>
          <a:xfrm>
            <a:off x="4846320" y="316484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High availability</a:t>
            </a:r>
            <a:endParaRPr lang="en-US" sz="1080" dirty="0"/>
          </a:p>
        </p:txBody>
      </p:sp>
      <p:pic>
        <p:nvPicPr>
          <p:cNvPr id="31" name="Image 12" descr="/home/claude/icons/check_1E2761.png">    </p:cNvPr>
          <p:cNvPicPr>
            <a:picLocks noChangeAspect="1"/>
          </p:cNvPicPr>
          <p:nvPr/>
        </p:nvPicPr>
        <p:blipFill>
          <a:blip r:embed="rId13"/>
          <a:stretch>
            <a:fillRect/>
          </a:stretch>
        </p:blipFill>
        <p:spPr>
          <a:xfrm>
            <a:off x="4590288" y="3716528"/>
            <a:ext cx="164592" cy="164592"/>
          </a:xfrm>
          <a:prstGeom prst="rect">
            <a:avLst/>
          </a:prstGeom>
        </p:spPr>
      </p:pic>
      <p:sp>
        <p:nvSpPr>
          <p:cNvPr id="32" name="Text 17"/>
          <p:cNvSpPr/>
          <p:nvPr/>
        </p:nvSpPr>
        <p:spPr>
          <a:xfrm>
            <a:off x="4846320" y="358140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Usability</a:t>
            </a:r>
            <a:endParaRPr lang="en-US" sz="1080" dirty="0"/>
          </a:p>
        </p:txBody>
      </p:sp>
      <p:pic>
        <p:nvPicPr>
          <p:cNvPr id="33" name="Image 13" descr="/home/claude/icons/check_1E2761.png">    </p:cNvPr>
          <p:cNvPicPr>
            <a:picLocks noChangeAspect="1"/>
          </p:cNvPicPr>
          <p:nvPr/>
        </p:nvPicPr>
        <p:blipFill>
          <a:blip r:embed="rId14"/>
          <a:stretch>
            <a:fillRect/>
          </a:stretch>
        </p:blipFill>
        <p:spPr>
          <a:xfrm>
            <a:off x="4590288" y="4133088"/>
            <a:ext cx="164592" cy="164592"/>
          </a:xfrm>
          <a:prstGeom prst="rect">
            <a:avLst/>
          </a:prstGeom>
        </p:spPr>
      </p:pic>
      <p:sp>
        <p:nvSpPr>
          <p:cNvPr id="34" name="Text 18"/>
          <p:cNvSpPr/>
          <p:nvPr/>
        </p:nvSpPr>
        <p:spPr>
          <a:xfrm>
            <a:off x="4846320" y="399796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Accessibility</a:t>
            </a:r>
            <a:endParaRPr lang="en-US" sz="1080" dirty="0"/>
          </a:p>
        </p:txBody>
      </p:sp>
      <p:pic>
        <p:nvPicPr>
          <p:cNvPr id="35" name="Image 14" descr="/home/claude/icons/check_1E2761.png">    </p:cNvPr>
          <p:cNvPicPr>
            <a:picLocks noChangeAspect="1"/>
          </p:cNvPicPr>
          <p:nvPr/>
        </p:nvPicPr>
        <p:blipFill>
          <a:blip r:embed="rId15"/>
          <a:stretch>
            <a:fillRect/>
          </a:stretch>
        </p:blipFill>
        <p:spPr>
          <a:xfrm>
            <a:off x="4590288" y="4549648"/>
            <a:ext cx="164592" cy="164592"/>
          </a:xfrm>
          <a:prstGeom prst="rect">
            <a:avLst/>
          </a:prstGeom>
        </p:spPr>
      </p:pic>
      <p:sp>
        <p:nvSpPr>
          <p:cNvPr id="36" name="Text 19"/>
          <p:cNvSpPr/>
          <p:nvPr/>
        </p:nvSpPr>
        <p:spPr>
          <a:xfrm>
            <a:off x="4846320" y="441452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Reliability</a:t>
            </a:r>
            <a:endParaRPr lang="en-US" sz="1080" dirty="0"/>
          </a:p>
        </p:txBody>
      </p:sp>
      <p:pic>
        <p:nvPicPr>
          <p:cNvPr id="37" name="Image 15" descr="/home/claude/icons/check_1E2761.png">    </p:cNvPr>
          <p:cNvPicPr>
            <a:picLocks noChangeAspect="1"/>
          </p:cNvPicPr>
          <p:nvPr/>
        </p:nvPicPr>
        <p:blipFill>
          <a:blip r:embed="rId16"/>
          <a:stretch>
            <a:fillRect/>
          </a:stretch>
        </p:blipFill>
        <p:spPr>
          <a:xfrm>
            <a:off x="4590288" y="4966208"/>
            <a:ext cx="164592" cy="164592"/>
          </a:xfrm>
          <a:prstGeom prst="rect">
            <a:avLst/>
          </a:prstGeom>
        </p:spPr>
      </p:pic>
      <p:sp>
        <p:nvSpPr>
          <p:cNvPr id="38" name="Text 20"/>
          <p:cNvSpPr/>
          <p:nvPr/>
        </p:nvSpPr>
        <p:spPr>
          <a:xfrm>
            <a:off x="4846320" y="483108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Maintainability</a:t>
            </a:r>
            <a:endParaRPr lang="en-US" sz="1080" dirty="0"/>
          </a:p>
        </p:txBody>
      </p:sp>
      <p:pic>
        <p:nvPicPr>
          <p:cNvPr id="39" name="Image 16" descr="/home/claude/icons/check_1E2761.png">    </p:cNvPr>
          <p:cNvPicPr>
            <a:picLocks noChangeAspect="1"/>
          </p:cNvPicPr>
          <p:nvPr/>
        </p:nvPicPr>
        <p:blipFill>
          <a:blip r:embed="rId17"/>
          <a:stretch>
            <a:fillRect/>
          </a:stretch>
        </p:blipFill>
        <p:spPr>
          <a:xfrm>
            <a:off x="4590288" y="5382768"/>
            <a:ext cx="164592" cy="164592"/>
          </a:xfrm>
          <a:prstGeom prst="rect">
            <a:avLst/>
          </a:prstGeom>
        </p:spPr>
      </p:pic>
      <p:sp>
        <p:nvSpPr>
          <p:cNvPr id="40" name="Text 21"/>
          <p:cNvSpPr/>
          <p:nvPr/>
        </p:nvSpPr>
        <p:spPr>
          <a:xfrm>
            <a:off x="4846320" y="524764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Data privacy</a:t>
            </a:r>
            <a:endParaRPr lang="en-US" sz="1080" dirty="0"/>
          </a:p>
        </p:txBody>
      </p:sp>
      <p:pic>
        <p:nvPicPr>
          <p:cNvPr id="41" name="Image 17" descr="/home/claude/icons/check_1E2761.png">    </p:cNvPr>
          <p:cNvPicPr>
            <a:picLocks noChangeAspect="1"/>
          </p:cNvPicPr>
          <p:nvPr/>
        </p:nvPicPr>
        <p:blipFill>
          <a:blip r:embed="rId18"/>
          <a:stretch>
            <a:fillRect/>
          </a:stretch>
        </p:blipFill>
        <p:spPr>
          <a:xfrm>
            <a:off x="4590288" y="5799328"/>
            <a:ext cx="164592" cy="164592"/>
          </a:xfrm>
          <a:prstGeom prst="rect">
            <a:avLst/>
          </a:prstGeom>
        </p:spPr>
      </p:pic>
      <p:sp>
        <p:nvSpPr>
          <p:cNvPr id="42" name="Text 22"/>
          <p:cNvSpPr/>
          <p:nvPr/>
        </p:nvSpPr>
        <p:spPr>
          <a:xfrm>
            <a:off x="4846320" y="5664200"/>
            <a:ext cx="2907792" cy="416560"/>
          </a:xfrm>
          <a:prstGeom prst="rect">
            <a:avLst/>
          </a:prstGeom>
          <a:noFill/>
          <a:ln/>
        </p:spPr>
        <p:txBody>
          <a:bodyPr wrap="square" lIns="0" tIns="0" rIns="0" bIns="0" rtlCol="0" anchor="ctr"/>
          <a:lstStyle/>
          <a:p>
            <a:pPr algn="l" indent="0" marL="0">
              <a:lnSpc>
                <a:spcPct val="100000"/>
              </a:lnSpc>
              <a:buNone/>
            </a:pPr>
            <a:r>
              <a:rPr lang="en-US" sz="1080" dirty="0">
                <a:solidFill>
                  <a:srgbClr val="1B2440"/>
                </a:solidFill>
                <a:latin typeface="Calibri" pitchFamily="34" charset="0"/>
                <a:ea typeface="Calibri" pitchFamily="34" charset="-122"/>
                <a:cs typeface="Calibri" pitchFamily="34" charset="-120"/>
              </a:rPr>
              <a:t>Responsive design</a:t>
            </a:r>
            <a:endParaRPr lang="en-US" sz="1080" dirty="0"/>
          </a:p>
        </p:txBody>
      </p:sp>
      <p:sp>
        <p:nvSpPr>
          <p:cNvPr id="43" name="Shape 23"/>
          <p:cNvSpPr/>
          <p:nvPr/>
        </p:nvSpPr>
        <p:spPr>
          <a:xfrm>
            <a:off x="8119872" y="1417320"/>
            <a:ext cx="3639312" cy="4800600"/>
          </a:xfrm>
          <a:prstGeom prst="roundRect">
            <a:avLst>
              <a:gd name="adj" fmla="val 2513"/>
            </a:avLst>
          </a:prstGeom>
          <a:solidFill>
            <a:srgbClr val="0B1533"/>
          </a:solidFill>
          <a:ln/>
        </p:spPr>
      </p:sp>
      <p:sp>
        <p:nvSpPr>
          <p:cNvPr id="44" name="Shape 24"/>
          <p:cNvSpPr/>
          <p:nvPr/>
        </p:nvSpPr>
        <p:spPr>
          <a:xfrm>
            <a:off x="8321040" y="1618488"/>
            <a:ext cx="512064" cy="512064"/>
          </a:xfrm>
          <a:prstGeom prst="ellipse">
            <a:avLst/>
          </a:prstGeom>
          <a:solidFill>
            <a:srgbClr val="16204A"/>
          </a:solidFill>
          <a:ln/>
        </p:spPr>
      </p:sp>
      <p:pic>
        <p:nvPicPr>
          <p:cNvPr id="45" name="Image 18" descr="/home/claude/icons/heart_CADCFC.png">    </p:cNvPr>
          <p:cNvPicPr>
            <a:picLocks noChangeAspect="1"/>
          </p:cNvPicPr>
          <p:nvPr/>
        </p:nvPicPr>
        <p:blipFill>
          <a:blip r:embed="rId19"/>
          <a:stretch>
            <a:fillRect/>
          </a:stretch>
        </p:blipFill>
        <p:spPr>
          <a:xfrm>
            <a:off x="8436254" y="1733702"/>
            <a:ext cx="281635" cy="281635"/>
          </a:xfrm>
          <a:prstGeom prst="rect">
            <a:avLst/>
          </a:prstGeom>
        </p:spPr>
      </p:pic>
      <p:sp>
        <p:nvSpPr>
          <p:cNvPr id="46" name="Text 25"/>
          <p:cNvSpPr/>
          <p:nvPr/>
        </p:nvSpPr>
        <p:spPr>
          <a:xfrm>
            <a:off x="8942832" y="1636776"/>
            <a:ext cx="2633472" cy="457200"/>
          </a:xfrm>
          <a:prstGeom prst="rect">
            <a:avLst/>
          </a:prstGeom>
          <a:noFill/>
          <a:ln/>
        </p:spPr>
        <p:txBody>
          <a:bodyPr wrap="square" lIns="0" tIns="0" rIns="0" bIns="0" rtlCol="0" anchor="ctr"/>
          <a:lstStyle/>
          <a:p>
            <a:pPr algn="l" indent="0" marL="0">
              <a:buNone/>
            </a:pPr>
            <a:r>
              <a:rPr lang="en-US" sz="1450" b="1" dirty="0">
                <a:solidFill>
                  <a:srgbClr val="FFFFFF"/>
                </a:solidFill>
                <a:latin typeface="Cambria" pitchFamily="34" charset="0"/>
                <a:ea typeface="Cambria" pitchFamily="34" charset="-122"/>
                <a:cs typeface="Cambria" pitchFamily="34" charset="-120"/>
              </a:rPr>
              <a:t>Citizen Benefits</a:t>
            </a:r>
            <a:endParaRPr lang="en-US" sz="1450" dirty="0"/>
          </a:p>
        </p:txBody>
      </p:sp>
      <p:pic>
        <p:nvPicPr>
          <p:cNvPr id="47" name="Image 19" descr="/home/claude/icons/check_CADCFC.png">    </p:cNvPr>
          <p:cNvPicPr>
            <a:picLocks noChangeAspect="1"/>
          </p:cNvPicPr>
          <p:nvPr/>
        </p:nvPicPr>
        <p:blipFill>
          <a:blip r:embed="rId20"/>
          <a:stretch>
            <a:fillRect/>
          </a:stretch>
        </p:blipFill>
        <p:spPr>
          <a:xfrm>
            <a:off x="8375904" y="2570988"/>
            <a:ext cx="164592" cy="164592"/>
          </a:xfrm>
          <a:prstGeom prst="rect">
            <a:avLst/>
          </a:prstGeom>
        </p:spPr>
      </p:pic>
      <p:sp>
        <p:nvSpPr>
          <p:cNvPr id="48" name="Text 26"/>
          <p:cNvSpPr/>
          <p:nvPr/>
        </p:nvSpPr>
        <p:spPr>
          <a:xfrm>
            <a:off x="8631936" y="2331720"/>
            <a:ext cx="2907792" cy="624840"/>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No citizen registration or login</a:t>
            </a:r>
            <a:endParaRPr lang="en-US" sz="1080" dirty="0"/>
          </a:p>
        </p:txBody>
      </p:sp>
      <p:pic>
        <p:nvPicPr>
          <p:cNvPr id="49" name="Image 20" descr="/home/claude/icons/check_CADCFC.png">    </p:cNvPr>
          <p:cNvPicPr>
            <a:picLocks noChangeAspect="1"/>
          </p:cNvPicPr>
          <p:nvPr/>
        </p:nvPicPr>
        <p:blipFill>
          <a:blip r:embed="rId21"/>
          <a:stretch>
            <a:fillRect/>
          </a:stretch>
        </p:blipFill>
        <p:spPr>
          <a:xfrm>
            <a:off x="8375904" y="3195828"/>
            <a:ext cx="164592" cy="164592"/>
          </a:xfrm>
          <a:prstGeom prst="rect">
            <a:avLst/>
          </a:prstGeom>
        </p:spPr>
      </p:pic>
      <p:sp>
        <p:nvSpPr>
          <p:cNvPr id="50" name="Text 27"/>
          <p:cNvSpPr/>
          <p:nvPr/>
        </p:nvSpPr>
        <p:spPr>
          <a:xfrm>
            <a:off x="8631936" y="2956560"/>
            <a:ext cx="2907792" cy="624840"/>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Reduced documentation confusion</a:t>
            </a:r>
            <a:endParaRPr lang="en-US" sz="1080" dirty="0"/>
          </a:p>
        </p:txBody>
      </p:sp>
      <p:pic>
        <p:nvPicPr>
          <p:cNvPr id="51" name="Image 21" descr="/home/claude/icons/check_CADCFC.png">    </p:cNvPr>
          <p:cNvPicPr>
            <a:picLocks noChangeAspect="1"/>
          </p:cNvPicPr>
          <p:nvPr/>
        </p:nvPicPr>
        <p:blipFill>
          <a:blip r:embed="rId22"/>
          <a:stretch>
            <a:fillRect/>
          </a:stretch>
        </p:blipFill>
        <p:spPr>
          <a:xfrm>
            <a:off x="8375904" y="3820668"/>
            <a:ext cx="164592" cy="164592"/>
          </a:xfrm>
          <a:prstGeom prst="rect">
            <a:avLst/>
          </a:prstGeom>
        </p:spPr>
      </p:pic>
      <p:sp>
        <p:nvSpPr>
          <p:cNvPr id="52" name="Text 28"/>
          <p:cNvSpPr/>
          <p:nvPr/>
        </p:nvSpPr>
        <p:spPr>
          <a:xfrm>
            <a:off x="8631936" y="3581400"/>
            <a:ext cx="2907792" cy="624840"/>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Fewer incomplete applications</a:t>
            </a:r>
            <a:endParaRPr lang="en-US" sz="1080" dirty="0"/>
          </a:p>
        </p:txBody>
      </p:sp>
      <p:pic>
        <p:nvPicPr>
          <p:cNvPr id="53" name="Image 22" descr="/home/claude/icons/check_CADCFC.png">    </p:cNvPr>
          <p:cNvPicPr>
            <a:picLocks noChangeAspect="1"/>
          </p:cNvPicPr>
          <p:nvPr/>
        </p:nvPicPr>
        <p:blipFill>
          <a:blip r:embed="rId23"/>
          <a:stretch>
            <a:fillRect/>
          </a:stretch>
        </p:blipFill>
        <p:spPr>
          <a:xfrm>
            <a:off x="8375904" y="4445508"/>
            <a:ext cx="164592" cy="164592"/>
          </a:xfrm>
          <a:prstGeom prst="rect">
            <a:avLst/>
          </a:prstGeom>
        </p:spPr>
      </p:pic>
      <p:sp>
        <p:nvSpPr>
          <p:cNvPr id="54" name="Text 29"/>
          <p:cNvSpPr/>
          <p:nvPr/>
        </p:nvSpPr>
        <p:spPr>
          <a:xfrm>
            <a:off x="8631936" y="4206240"/>
            <a:ext cx="2907792" cy="624840"/>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Reduced repeat visits</a:t>
            </a:r>
            <a:endParaRPr lang="en-US" sz="1080" dirty="0"/>
          </a:p>
        </p:txBody>
      </p:sp>
      <p:pic>
        <p:nvPicPr>
          <p:cNvPr id="55" name="Image 23" descr="/home/claude/icons/check_CADCFC.png">    </p:cNvPr>
          <p:cNvPicPr>
            <a:picLocks noChangeAspect="1"/>
          </p:cNvPicPr>
          <p:nvPr/>
        </p:nvPicPr>
        <p:blipFill>
          <a:blip r:embed="rId24"/>
          <a:stretch>
            <a:fillRect/>
          </a:stretch>
        </p:blipFill>
        <p:spPr>
          <a:xfrm>
            <a:off x="8375904" y="5070348"/>
            <a:ext cx="164592" cy="164592"/>
          </a:xfrm>
          <a:prstGeom prst="rect">
            <a:avLst/>
          </a:prstGeom>
        </p:spPr>
      </p:pic>
      <p:sp>
        <p:nvSpPr>
          <p:cNvPr id="56" name="Text 30"/>
          <p:cNvSpPr/>
          <p:nvPr/>
        </p:nvSpPr>
        <p:spPr>
          <a:xfrm>
            <a:off x="8631936" y="4831080"/>
            <a:ext cx="2907792" cy="624840"/>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Better citizen preparedness</a:t>
            </a:r>
            <a:endParaRPr lang="en-US" sz="1080" dirty="0"/>
          </a:p>
        </p:txBody>
      </p:sp>
      <p:pic>
        <p:nvPicPr>
          <p:cNvPr id="57" name="Image 24" descr="/home/claude/icons/check_CADCFC.png">    </p:cNvPr>
          <p:cNvPicPr>
            <a:picLocks noChangeAspect="1"/>
          </p:cNvPicPr>
          <p:nvPr/>
        </p:nvPicPr>
        <p:blipFill>
          <a:blip r:embed="rId25"/>
          <a:stretch>
            <a:fillRect/>
          </a:stretch>
        </p:blipFill>
        <p:spPr>
          <a:xfrm>
            <a:off x="8375904" y="5695188"/>
            <a:ext cx="164592" cy="164592"/>
          </a:xfrm>
          <a:prstGeom prst="rect">
            <a:avLst/>
          </a:prstGeom>
        </p:spPr>
      </p:pic>
      <p:sp>
        <p:nvSpPr>
          <p:cNvPr id="58" name="Text 31"/>
          <p:cNvSpPr/>
          <p:nvPr/>
        </p:nvSpPr>
        <p:spPr>
          <a:xfrm>
            <a:off x="8631936" y="5455920"/>
            <a:ext cx="2907792" cy="624840"/>
          </a:xfrm>
          <a:prstGeom prst="rect">
            <a:avLst/>
          </a:prstGeom>
          <a:noFill/>
          <a:ln/>
        </p:spPr>
        <p:txBody>
          <a:bodyPr wrap="square" lIns="0" tIns="0" rIns="0" bIns="0" rtlCol="0" anchor="ctr"/>
          <a:lstStyle/>
          <a:p>
            <a:pPr algn="l" indent="0" marL="0">
              <a:lnSpc>
                <a:spcPct val="100000"/>
              </a:lnSpc>
              <a:buNone/>
            </a:pPr>
            <a:r>
              <a:rPr lang="en-US" sz="1080" dirty="0">
                <a:solidFill>
                  <a:srgbClr val="FFFFFF"/>
                </a:solidFill>
                <a:latin typeface="Calibri" pitchFamily="34" charset="0"/>
                <a:ea typeface="Calibri" pitchFamily="34" charset="-122"/>
                <a:cs typeface="Calibri" pitchFamily="34" charset="-120"/>
              </a:rPr>
              <a:t>Centrally maintained requirements</a:t>
            </a:r>
            <a:endParaRPr lang="en-US" sz="1080" dirty="0"/>
          </a:p>
        </p:txBody>
      </p:sp>
      <p:sp>
        <p:nvSpPr>
          <p:cNvPr id="59" name="Text 3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Citizen Application Document Checklist Generator</a:t>
            </a:r>
            <a:endParaRPr lang="en-US" sz="900" dirty="0"/>
          </a:p>
        </p:txBody>
      </p:sp>
      <p:sp>
        <p:nvSpPr>
          <p:cNvPr id="60" name="Text 3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533"/>
        </a:solidFill>
      </p:bgPr>
    </p:bg>
    <p:spTree>
      <p:nvGrpSpPr>
        <p:cNvPr id="1" name=""/>
        <p:cNvGrpSpPr/>
        <p:nvPr/>
      </p:nvGrpSpPr>
      <p:grpSpPr>
        <a:xfrm>
          <a:off x="0" y="0"/>
          <a:ext cx="0" cy="0"/>
          <a:chOff x="0" y="0"/>
          <a:chExt cx="0" cy="0"/>
        </a:xfrm>
      </p:grpSpPr>
      <p:sp>
        <p:nvSpPr>
          <p:cNvPr id="2" name="Shape 0"/>
          <p:cNvSpPr/>
          <p:nvPr/>
        </p:nvSpPr>
        <p:spPr>
          <a:xfrm>
            <a:off x="9326880" y="-2286000"/>
            <a:ext cx="5486400" cy="5486400"/>
          </a:xfrm>
          <a:prstGeom prst="ellipse">
            <a:avLst/>
          </a:prstGeom>
          <a:solidFill>
            <a:srgbClr val="1E2761"/>
          </a:solidFill>
          <a:ln/>
        </p:spPr>
      </p:sp>
      <p:sp>
        <p:nvSpPr>
          <p:cNvPr id="3" name="Shape 1"/>
          <p:cNvSpPr/>
          <p:nvPr/>
        </p:nvSpPr>
        <p:spPr>
          <a:xfrm>
            <a:off x="-2560320" y="5120640"/>
            <a:ext cx="4114800" cy="4114800"/>
          </a:xfrm>
          <a:prstGeom prst="ellipse">
            <a:avLst/>
          </a:prstGeom>
          <a:solidFill>
            <a:srgbClr val="1E2761"/>
          </a:solidFill>
          <a:ln/>
        </p:spPr>
      </p:sp>
      <p:sp>
        <p:nvSpPr>
          <p:cNvPr id="4" name="Text 2"/>
          <p:cNvSpPr/>
          <p:nvPr/>
        </p:nvSpPr>
        <p:spPr>
          <a:xfrm>
            <a:off x="548640" y="457200"/>
            <a:ext cx="1106424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Expected Outcome &amp; Conclusion</a:t>
            </a:r>
            <a:endParaRPr lang="en-US" sz="3000" dirty="0"/>
          </a:p>
        </p:txBody>
      </p:sp>
      <p:sp>
        <p:nvSpPr>
          <p:cNvPr id="5" name="Shape 3"/>
          <p:cNvSpPr/>
          <p:nvPr/>
        </p:nvSpPr>
        <p:spPr>
          <a:xfrm>
            <a:off x="548640" y="1234440"/>
            <a:ext cx="2066544" cy="1143000"/>
          </a:xfrm>
          <a:prstGeom prst="roundRect">
            <a:avLst>
              <a:gd name="adj" fmla="val 6400"/>
            </a:avLst>
          </a:prstGeom>
          <a:solidFill>
            <a:srgbClr val="141B3F"/>
          </a:solidFill>
          <a:ln w="12700">
            <a:solidFill>
              <a:srgbClr val="2A3566"/>
            </a:solidFill>
            <a:prstDash val="solid"/>
          </a:ln>
        </p:spPr>
      </p:sp>
      <p:sp>
        <p:nvSpPr>
          <p:cNvPr id="6" name="Shape 4"/>
          <p:cNvSpPr/>
          <p:nvPr/>
        </p:nvSpPr>
        <p:spPr>
          <a:xfrm>
            <a:off x="1371600" y="1389888"/>
            <a:ext cx="420624" cy="420624"/>
          </a:xfrm>
          <a:prstGeom prst="ellipse">
            <a:avLst/>
          </a:prstGeom>
          <a:solidFill>
            <a:srgbClr val="0B1533"/>
          </a:solidFill>
          <a:ln/>
        </p:spPr>
      </p:sp>
      <p:pic>
        <p:nvPicPr>
          <p:cNvPr id="7" name="Image 0" descr="/home/claude/icons/service_CADCFC.png">    </p:cNvPr>
          <p:cNvPicPr>
            <a:picLocks noChangeAspect="1"/>
          </p:cNvPicPr>
          <p:nvPr/>
        </p:nvPicPr>
        <p:blipFill>
          <a:blip r:embed="rId1"/>
          <a:stretch>
            <a:fillRect/>
          </a:stretch>
        </p:blipFill>
        <p:spPr>
          <a:xfrm>
            <a:off x="1466240" y="1484528"/>
            <a:ext cx="231343" cy="231343"/>
          </a:xfrm>
          <a:prstGeom prst="rect">
            <a:avLst/>
          </a:prstGeom>
        </p:spPr>
      </p:pic>
      <p:sp>
        <p:nvSpPr>
          <p:cNvPr id="8" name="Text 5"/>
          <p:cNvSpPr/>
          <p:nvPr/>
        </p:nvSpPr>
        <p:spPr>
          <a:xfrm>
            <a:off x="594360" y="1874520"/>
            <a:ext cx="1975104" cy="457200"/>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Select Service</a:t>
            </a:r>
            <a:endParaRPr lang="en-US" sz="1050" dirty="0"/>
          </a:p>
        </p:txBody>
      </p:sp>
      <p:pic>
        <p:nvPicPr>
          <p:cNvPr id="9" name="Image 1" descr="/home/claude/icons/arrowRight_CADCFC.png">    </p:cNvPr>
          <p:cNvPicPr>
            <a:picLocks noChangeAspect="1"/>
          </p:cNvPicPr>
          <p:nvPr/>
        </p:nvPicPr>
        <p:blipFill>
          <a:blip r:embed="rId2"/>
          <a:stretch>
            <a:fillRect/>
          </a:stretch>
        </p:blipFill>
        <p:spPr>
          <a:xfrm>
            <a:off x="2633472" y="1732788"/>
            <a:ext cx="146304" cy="146304"/>
          </a:xfrm>
          <a:prstGeom prst="rect">
            <a:avLst/>
          </a:prstGeom>
        </p:spPr>
      </p:pic>
      <p:sp>
        <p:nvSpPr>
          <p:cNvPr id="10" name="Shape 6"/>
          <p:cNvSpPr/>
          <p:nvPr/>
        </p:nvSpPr>
        <p:spPr>
          <a:xfrm>
            <a:off x="2798064" y="1234440"/>
            <a:ext cx="2066544" cy="1143000"/>
          </a:xfrm>
          <a:prstGeom prst="roundRect">
            <a:avLst>
              <a:gd name="adj" fmla="val 6400"/>
            </a:avLst>
          </a:prstGeom>
          <a:solidFill>
            <a:srgbClr val="141B3F"/>
          </a:solidFill>
          <a:ln w="12700">
            <a:solidFill>
              <a:srgbClr val="2A3566"/>
            </a:solidFill>
            <a:prstDash val="solid"/>
          </a:ln>
        </p:spPr>
      </p:sp>
      <p:sp>
        <p:nvSpPr>
          <p:cNvPr id="11" name="Shape 7"/>
          <p:cNvSpPr/>
          <p:nvPr/>
        </p:nvSpPr>
        <p:spPr>
          <a:xfrm>
            <a:off x="3621024" y="1389888"/>
            <a:ext cx="420624" cy="420624"/>
          </a:xfrm>
          <a:prstGeom prst="ellipse">
            <a:avLst/>
          </a:prstGeom>
          <a:solidFill>
            <a:srgbClr val="0B1533"/>
          </a:solidFill>
          <a:ln/>
        </p:spPr>
      </p:sp>
      <p:pic>
        <p:nvPicPr>
          <p:cNvPr id="12" name="Image 2" descr="/home/claude/icons/form_CADCFC.png">    </p:cNvPr>
          <p:cNvPicPr>
            <a:picLocks noChangeAspect="1"/>
          </p:cNvPicPr>
          <p:nvPr/>
        </p:nvPicPr>
        <p:blipFill>
          <a:blip r:embed="rId3"/>
          <a:stretch>
            <a:fillRect/>
          </a:stretch>
        </p:blipFill>
        <p:spPr>
          <a:xfrm>
            <a:off x="3715664" y="1484528"/>
            <a:ext cx="231343" cy="231343"/>
          </a:xfrm>
          <a:prstGeom prst="rect">
            <a:avLst/>
          </a:prstGeom>
        </p:spPr>
      </p:pic>
      <p:sp>
        <p:nvSpPr>
          <p:cNvPr id="13" name="Text 8"/>
          <p:cNvSpPr/>
          <p:nvPr/>
        </p:nvSpPr>
        <p:spPr>
          <a:xfrm>
            <a:off x="2843784" y="1874520"/>
            <a:ext cx="1975104" cy="457200"/>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Provide Information</a:t>
            </a:r>
            <a:endParaRPr lang="en-US" sz="1050" dirty="0"/>
          </a:p>
        </p:txBody>
      </p:sp>
      <p:pic>
        <p:nvPicPr>
          <p:cNvPr id="14" name="Image 3" descr="/home/claude/icons/arrowRight_CADCFC.png">    </p:cNvPr>
          <p:cNvPicPr>
            <a:picLocks noChangeAspect="1"/>
          </p:cNvPicPr>
          <p:nvPr/>
        </p:nvPicPr>
        <p:blipFill>
          <a:blip r:embed="rId4"/>
          <a:stretch>
            <a:fillRect/>
          </a:stretch>
        </p:blipFill>
        <p:spPr>
          <a:xfrm>
            <a:off x="4882896" y="1732788"/>
            <a:ext cx="146304" cy="146304"/>
          </a:xfrm>
          <a:prstGeom prst="rect">
            <a:avLst/>
          </a:prstGeom>
        </p:spPr>
      </p:pic>
      <p:sp>
        <p:nvSpPr>
          <p:cNvPr id="15" name="Shape 9"/>
          <p:cNvSpPr/>
          <p:nvPr/>
        </p:nvSpPr>
        <p:spPr>
          <a:xfrm>
            <a:off x="5047488" y="1234440"/>
            <a:ext cx="2066544" cy="1143000"/>
          </a:xfrm>
          <a:prstGeom prst="roundRect">
            <a:avLst>
              <a:gd name="adj" fmla="val 6400"/>
            </a:avLst>
          </a:prstGeom>
          <a:solidFill>
            <a:srgbClr val="141B3F"/>
          </a:solidFill>
          <a:ln w="12700">
            <a:solidFill>
              <a:srgbClr val="2A3566"/>
            </a:solidFill>
            <a:prstDash val="solid"/>
          </a:ln>
        </p:spPr>
      </p:sp>
      <p:sp>
        <p:nvSpPr>
          <p:cNvPr id="16" name="Shape 10"/>
          <p:cNvSpPr/>
          <p:nvPr/>
        </p:nvSpPr>
        <p:spPr>
          <a:xfrm>
            <a:off x="5870448" y="1389888"/>
            <a:ext cx="420624" cy="420624"/>
          </a:xfrm>
          <a:prstGeom prst="ellipse">
            <a:avLst/>
          </a:prstGeom>
          <a:solidFill>
            <a:srgbClr val="0B1533"/>
          </a:solidFill>
          <a:ln/>
        </p:spPr>
      </p:sp>
      <p:pic>
        <p:nvPicPr>
          <p:cNvPr id="17" name="Image 4" descr="/home/claude/icons/checklist_CADCFC.png">    </p:cNvPr>
          <p:cNvPicPr>
            <a:picLocks noChangeAspect="1"/>
          </p:cNvPicPr>
          <p:nvPr/>
        </p:nvPicPr>
        <p:blipFill>
          <a:blip r:embed="rId5"/>
          <a:stretch>
            <a:fillRect/>
          </a:stretch>
        </p:blipFill>
        <p:spPr>
          <a:xfrm>
            <a:off x="5965088" y="1484528"/>
            <a:ext cx="231343" cy="231343"/>
          </a:xfrm>
          <a:prstGeom prst="rect">
            <a:avLst/>
          </a:prstGeom>
        </p:spPr>
      </p:pic>
      <p:sp>
        <p:nvSpPr>
          <p:cNvPr id="18" name="Text 11"/>
          <p:cNvSpPr/>
          <p:nvPr/>
        </p:nvSpPr>
        <p:spPr>
          <a:xfrm>
            <a:off x="5093208" y="1874520"/>
            <a:ext cx="1975104" cy="457200"/>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Generate Checklist</a:t>
            </a:r>
            <a:endParaRPr lang="en-US" sz="1050" dirty="0"/>
          </a:p>
        </p:txBody>
      </p:sp>
      <p:pic>
        <p:nvPicPr>
          <p:cNvPr id="19" name="Image 5" descr="/home/claude/icons/arrowRight_CADCFC.png">    </p:cNvPr>
          <p:cNvPicPr>
            <a:picLocks noChangeAspect="1"/>
          </p:cNvPicPr>
          <p:nvPr/>
        </p:nvPicPr>
        <p:blipFill>
          <a:blip r:embed="rId6"/>
          <a:stretch>
            <a:fillRect/>
          </a:stretch>
        </p:blipFill>
        <p:spPr>
          <a:xfrm>
            <a:off x="7132320" y="1732788"/>
            <a:ext cx="146304" cy="146304"/>
          </a:xfrm>
          <a:prstGeom prst="rect">
            <a:avLst/>
          </a:prstGeom>
        </p:spPr>
      </p:pic>
      <p:sp>
        <p:nvSpPr>
          <p:cNvPr id="20" name="Shape 12"/>
          <p:cNvSpPr/>
          <p:nvPr/>
        </p:nvSpPr>
        <p:spPr>
          <a:xfrm>
            <a:off x="7296912" y="1234440"/>
            <a:ext cx="2066544" cy="1143000"/>
          </a:xfrm>
          <a:prstGeom prst="roundRect">
            <a:avLst>
              <a:gd name="adj" fmla="val 6400"/>
            </a:avLst>
          </a:prstGeom>
          <a:solidFill>
            <a:srgbClr val="141B3F"/>
          </a:solidFill>
          <a:ln w="12700">
            <a:solidFill>
              <a:srgbClr val="2A3566"/>
            </a:solidFill>
            <a:prstDash val="solid"/>
          </a:ln>
        </p:spPr>
      </p:sp>
      <p:sp>
        <p:nvSpPr>
          <p:cNvPr id="21" name="Shape 13"/>
          <p:cNvSpPr/>
          <p:nvPr/>
        </p:nvSpPr>
        <p:spPr>
          <a:xfrm>
            <a:off x="8119872" y="1389888"/>
            <a:ext cx="420624" cy="420624"/>
          </a:xfrm>
          <a:prstGeom prst="ellipse">
            <a:avLst/>
          </a:prstGeom>
          <a:solidFill>
            <a:srgbClr val="0B1533"/>
          </a:solidFill>
          <a:ln/>
        </p:spPr>
      </p:sp>
      <p:pic>
        <p:nvPicPr>
          <p:cNvPr id="22" name="Image 6" descr="/home/claude/icons/eye_CADCFC.png">    </p:cNvPr>
          <p:cNvPicPr>
            <a:picLocks noChangeAspect="1"/>
          </p:cNvPicPr>
          <p:nvPr/>
        </p:nvPicPr>
        <p:blipFill>
          <a:blip r:embed="rId7"/>
          <a:stretch>
            <a:fillRect/>
          </a:stretch>
        </p:blipFill>
        <p:spPr>
          <a:xfrm>
            <a:off x="8214512" y="1484528"/>
            <a:ext cx="231343" cy="231343"/>
          </a:xfrm>
          <a:prstGeom prst="rect">
            <a:avLst/>
          </a:prstGeom>
        </p:spPr>
      </p:pic>
      <p:sp>
        <p:nvSpPr>
          <p:cNvPr id="23" name="Text 14"/>
          <p:cNvSpPr/>
          <p:nvPr/>
        </p:nvSpPr>
        <p:spPr>
          <a:xfrm>
            <a:off x="7342632" y="1874520"/>
            <a:ext cx="1975104" cy="457200"/>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p>
        </p:txBody>
      </p:sp>
      <p:pic>
        <p:nvPicPr>
          <p:cNvPr id="24" name="Image 7" descr="/home/claude/icons/arrowRight_CADCFC.png">    </p:cNvPr>
          <p:cNvPicPr>
            <a:picLocks noChangeAspect="1"/>
          </p:cNvPicPr>
          <p:nvPr/>
        </p:nvPicPr>
        <p:blipFill>
          <a:blip r:embed="rId8"/>
          <a:stretch>
            <a:fillRect/>
          </a:stretch>
        </p:blipFill>
        <p:spPr>
          <a:xfrm>
            <a:off x="9381744" y="1732788"/>
            <a:ext cx="146304" cy="146304"/>
          </a:xfrm>
          <a:prstGeom prst="rect">
            <a:avLst/>
          </a:prstGeom>
        </p:spPr>
      </p:pic>
      <p:sp>
        <p:nvSpPr>
          <p:cNvPr id="25" name="Shape 15"/>
          <p:cNvSpPr/>
          <p:nvPr/>
        </p:nvSpPr>
        <p:spPr>
          <a:xfrm>
            <a:off x="9546336" y="1234440"/>
            <a:ext cx="2066544" cy="1143000"/>
          </a:xfrm>
          <a:prstGeom prst="roundRect">
            <a:avLst>
              <a:gd name="adj" fmla="val 6400"/>
            </a:avLst>
          </a:prstGeom>
          <a:solidFill>
            <a:srgbClr val="141B3F"/>
          </a:solidFill>
          <a:ln w="12700">
            <a:solidFill>
              <a:srgbClr val="2A3566"/>
            </a:solidFill>
            <a:prstDash val="solid"/>
          </a:ln>
        </p:spPr>
      </p:sp>
      <p:sp>
        <p:nvSpPr>
          <p:cNvPr id="26" name="Shape 16"/>
          <p:cNvSpPr/>
          <p:nvPr/>
        </p:nvSpPr>
        <p:spPr>
          <a:xfrm>
            <a:off x="10369296" y="1389888"/>
            <a:ext cx="420624" cy="420624"/>
          </a:xfrm>
          <a:prstGeom prst="ellipse">
            <a:avLst/>
          </a:prstGeom>
          <a:solidFill>
            <a:srgbClr val="0B1533"/>
          </a:solidFill>
          <a:ln/>
        </p:spPr>
      </p:sp>
      <p:pic>
        <p:nvPicPr>
          <p:cNvPr id="27" name="Image 8" descr="/home/claude/icons/download_CADCFC.png">    </p:cNvPr>
          <p:cNvPicPr>
            <a:picLocks noChangeAspect="1"/>
          </p:cNvPicPr>
          <p:nvPr/>
        </p:nvPicPr>
        <p:blipFill>
          <a:blip r:embed="rId9"/>
          <a:stretch>
            <a:fillRect/>
          </a:stretch>
        </p:blipFill>
        <p:spPr>
          <a:xfrm>
            <a:off x="10463936" y="1484528"/>
            <a:ext cx="231343" cy="231343"/>
          </a:xfrm>
          <a:prstGeom prst="rect">
            <a:avLst/>
          </a:prstGeom>
        </p:spPr>
      </p:pic>
      <p:sp>
        <p:nvSpPr>
          <p:cNvPr id="28" name="Text 17"/>
          <p:cNvSpPr/>
          <p:nvPr/>
        </p:nvSpPr>
        <p:spPr>
          <a:xfrm>
            <a:off x="9592056" y="1874520"/>
            <a:ext cx="1975104" cy="457200"/>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Download / Print</a:t>
            </a:r>
            <a:endParaRPr lang="en-US" sz="1050" dirty="0"/>
          </a:p>
        </p:txBody>
      </p:sp>
      <p:sp>
        <p:nvSpPr>
          <p:cNvPr id="29" name="Shape 18"/>
          <p:cNvSpPr/>
          <p:nvPr/>
        </p:nvSpPr>
        <p:spPr>
          <a:xfrm>
            <a:off x="548640" y="2651760"/>
            <a:ext cx="11064240" cy="1417320"/>
          </a:xfrm>
          <a:prstGeom prst="roundRect">
            <a:avLst>
              <a:gd name="adj" fmla="val 5806"/>
            </a:avLst>
          </a:prstGeom>
          <a:solidFill>
            <a:srgbClr val="141B3F"/>
          </a:solidFill>
          <a:ln/>
        </p:spPr>
      </p:sp>
      <p:sp>
        <p:nvSpPr>
          <p:cNvPr id="30" name="Text 19"/>
          <p:cNvSpPr/>
          <p:nvPr/>
        </p:nvSpPr>
        <p:spPr>
          <a:xfrm>
            <a:off x="868680" y="2788920"/>
            <a:ext cx="10424160" cy="1143000"/>
          </a:xfrm>
          <a:prstGeom prst="rect">
            <a:avLst/>
          </a:prstGeom>
          <a:noFill/>
          <a:ln/>
        </p:spPr>
        <p:txBody>
          <a:bodyPr wrap="square" lIns="0" tIns="0" rIns="0" bIns="0" rtlCol="0" anchor="ctr"/>
          <a:lstStyle/>
          <a:p>
            <a:pPr algn="l" indent="0" marL="0">
              <a:lnSpc>
                <a:spcPct val="125000"/>
              </a:lnSpc>
              <a:buNone/>
            </a:pPr>
            <a:r>
              <a:rPr lang="en-US" sz="1250" i="1" dirty="0">
                <a:solidFill>
                  <a:srgbClr val="CADCFC"/>
                </a:solidFill>
                <a:latin typeface="Calibri" pitchFamily="34" charset="0"/>
                <a:ea typeface="Calibri" pitchFamily="34" charset="-122"/>
                <a:cs typeface="Calibri" pitchFamily="34" charset="-120"/>
              </a:rPr>
              <a:t>The Citizen Application Document Checklist Generator provides a simple and accessible platform for helping citizens identify the documents required for different public services. By generating personalized checklists and allowing administrators to securely maintain requirements, the system reduces confusion, incomplete applications, delays, and unnecessary visits to service centers.</a:t>
            </a:r>
            <a:endParaRPr lang="en-US" sz="1250" dirty="0"/>
          </a:p>
        </p:txBody>
      </p:sp>
      <p:sp>
        <p:nvSpPr>
          <p:cNvPr id="31" name="Text 20"/>
          <p:cNvSpPr/>
          <p:nvPr/>
        </p:nvSpPr>
        <p:spPr>
          <a:xfrm>
            <a:off x="548640" y="4251960"/>
            <a:ext cx="4572000" cy="274320"/>
          </a:xfrm>
          <a:prstGeom prst="rect">
            <a:avLst/>
          </a:prstGeom>
          <a:noFill/>
          <a:ln/>
        </p:spPr>
        <p:txBody>
          <a:bodyPr wrap="square" lIns="0" tIns="0" rIns="0" bIns="0" rtlCol="0" anchor="ctr"/>
          <a:lstStyle/>
          <a:p>
            <a:pPr algn="l" indent="0" marL="0">
              <a:buNone/>
            </a:pPr>
            <a:r>
              <a:rPr lang="en-US" sz="1100" b="1" spc="150" kern="0" dirty="0">
                <a:solidFill>
                  <a:srgbClr val="6E8CFF"/>
                </a:solidFill>
                <a:latin typeface="Calibri" pitchFamily="34" charset="0"/>
                <a:ea typeface="Calibri" pitchFamily="34" charset="-122"/>
                <a:cs typeface="Calibri" pitchFamily="34" charset="-120"/>
              </a:rPr>
              <a:t>FUTURE SCOPE</a:t>
            </a:r>
            <a:endParaRPr lang="en-US" sz="1100" dirty="0"/>
          </a:p>
        </p:txBody>
      </p:sp>
      <p:sp>
        <p:nvSpPr>
          <p:cNvPr id="32" name="Shape 21"/>
          <p:cNvSpPr/>
          <p:nvPr/>
        </p:nvSpPr>
        <p:spPr>
          <a:xfrm>
            <a:off x="548640" y="4572000"/>
            <a:ext cx="3566160" cy="868680"/>
          </a:xfrm>
          <a:prstGeom prst="roundRect">
            <a:avLst>
              <a:gd name="adj" fmla="val 8421"/>
            </a:avLst>
          </a:prstGeom>
          <a:solidFill>
            <a:srgbClr val="141B3F"/>
          </a:solidFill>
          <a:ln/>
        </p:spPr>
      </p:sp>
      <p:sp>
        <p:nvSpPr>
          <p:cNvPr id="33" name="Shape 22"/>
          <p:cNvSpPr/>
          <p:nvPr/>
        </p:nvSpPr>
        <p:spPr>
          <a:xfrm>
            <a:off x="822960" y="4777740"/>
            <a:ext cx="457200" cy="457200"/>
          </a:xfrm>
          <a:prstGeom prst="ellipse">
            <a:avLst/>
          </a:prstGeom>
          <a:solidFill>
            <a:srgbClr val="0B1533"/>
          </a:solidFill>
          <a:ln/>
        </p:spPr>
      </p:sp>
      <p:pic>
        <p:nvPicPr>
          <p:cNvPr id="34" name="Image 9" descr="/home/claude/icons/brain_CADCFC.png">    </p:cNvPr>
          <p:cNvPicPr>
            <a:picLocks noChangeAspect="1"/>
          </p:cNvPicPr>
          <p:nvPr/>
        </p:nvPicPr>
        <p:blipFill>
          <a:blip r:embed="rId10"/>
          <a:stretch>
            <a:fillRect/>
          </a:stretch>
        </p:blipFill>
        <p:spPr>
          <a:xfrm>
            <a:off x="925830" y="4880610"/>
            <a:ext cx="251460" cy="251460"/>
          </a:xfrm>
          <a:prstGeom prst="rect">
            <a:avLst/>
          </a:prstGeom>
        </p:spPr>
      </p:pic>
      <p:sp>
        <p:nvSpPr>
          <p:cNvPr id="35" name="Text 23"/>
          <p:cNvSpPr/>
          <p:nvPr/>
        </p:nvSpPr>
        <p:spPr>
          <a:xfrm>
            <a:off x="1389888" y="4572000"/>
            <a:ext cx="2560320" cy="86868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AI-Based Requirement Analysis</a:t>
            </a:r>
            <a:endParaRPr lang="en-US" sz="1150" dirty="0"/>
          </a:p>
        </p:txBody>
      </p:sp>
      <p:sp>
        <p:nvSpPr>
          <p:cNvPr id="36" name="Shape 24"/>
          <p:cNvSpPr/>
          <p:nvPr/>
        </p:nvSpPr>
        <p:spPr>
          <a:xfrm>
            <a:off x="4297680" y="4572000"/>
            <a:ext cx="3566160" cy="868680"/>
          </a:xfrm>
          <a:prstGeom prst="roundRect">
            <a:avLst>
              <a:gd name="adj" fmla="val 8421"/>
            </a:avLst>
          </a:prstGeom>
          <a:solidFill>
            <a:srgbClr val="141B3F"/>
          </a:solidFill>
          <a:ln/>
        </p:spPr>
      </p:sp>
      <p:sp>
        <p:nvSpPr>
          <p:cNvPr id="37" name="Shape 25"/>
          <p:cNvSpPr/>
          <p:nvPr/>
        </p:nvSpPr>
        <p:spPr>
          <a:xfrm>
            <a:off x="4572000" y="4777740"/>
            <a:ext cx="457200" cy="457200"/>
          </a:xfrm>
          <a:prstGeom prst="ellipse">
            <a:avLst/>
          </a:prstGeom>
          <a:solidFill>
            <a:srgbClr val="0B1533"/>
          </a:solidFill>
          <a:ln/>
        </p:spPr>
      </p:sp>
      <p:pic>
        <p:nvPicPr>
          <p:cNvPr id="38" name="Image 10" descr="/home/claude/icons/language_CADCFC.png">    </p:cNvPr>
          <p:cNvPicPr>
            <a:picLocks noChangeAspect="1"/>
          </p:cNvPicPr>
          <p:nvPr/>
        </p:nvPicPr>
        <p:blipFill>
          <a:blip r:embed="rId11"/>
          <a:stretch>
            <a:fillRect/>
          </a:stretch>
        </p:blipFill>
        <p:spPr>
          <a:xfrm>
            <a:off x="4674870" y="4880610"/>
            <a:ext cx="251460" cy="251460"/>
          </a:xfrm>
          <a:prstGeom prst="rect">
            <a:avLst/>
          </a:prstGeom>
        </p:spPr>
      </p:pic>
      <p:sp>
        <p:nvSpPr>
          <p:cNvPr id="39" name="Text 26"/>
          <p:cNvSpPr/>
          <p:nvPr/>
        </p:nvSpPr>
        <p:spPr>
          <a:xfrm>
            <a:off x="5138928" y="4572000"/>
            <a:ext cx="2560320" cy="86868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Multilingual Support</a:t>
            </a:r>
            <a:endParaRPr lang="en-US" sz="1150" dirty="0"/>
          </a:p>
        </p:txBody>
      </p:sp>
      <p:sp>
        <p:nvSpPr>
          <p:cNvPr id="40" name="Shape 27"/>
          <p:cNvSpPr/>
          <p:nvPr/>
        </p:nvSpPr>
        <p:spPr>
          <a:xfrm>
            <a:off x="8046720" y="4572000"/>
            <a:ext cx="3566160" cy="868680"/>
          </a:xfrm>
          <a:prstGeom prst="roundRect">
            <a:avLst>
              <a:gd name="adj" fmla="val 8421"/>
            </a:avLst>
          </a:prstGeom>
          <a:solidFill>
            <a:srgbClr val="141B3F"/>
          </a:solidFill>
          <a:ln/>
        </p:spPr>
      </p:sp>
      <p:sp>
        <p:nvSpPr>
          <p:cNvPr id="41" name="Shape 28"/>
          <p:cNvSpPr/>
          <p:nvPr/>
        </p:nvSpPr>
        <p:spPr>
          <a:xfrm>
            <a:off x="8321040" y="4777740"/>
            <a:ext cx="457200" cy="457200"/>
          </a:xfrm>
          <a:prstGeom prst="ellipse">
            <a:avLst/>
          </a:prstGeom>
          <a:solidFill>
            <a:srgbClr val="0B1533"/>
          </a:solidFill>
          <a:ln/>
        </p:spPr>
      </p:sp>
      <p:pic>
        <p:nvPicPr>
          <p:cNvPr id="42" name="Image 11" descr="/home/claude/icons/expand_CADCFC.png">    </p:cNvPr>
          <p:cNvPicPr>
            <a:picLocks noChangeAspect="1"/>
          </p:cNvPicPr>
          <p:nvPr/>
        </p:nvPicPr>
        <p:blipFill>
          <a:blip r:embed="rId12"/>
          <a:stretch>
            <a:fillRect/>
          </a:stretch>
        </p:blipFill>
        <p:spPr>
          <a:xfrm>
            <a:off x="8423910" y="4880610"/>
            <a:ext cx="251460" cy="251460"/>
          </a:xfrm>
          <a:prstGeom prst="rect">
            <a:avLst/>
          </a:prstGeom>
        </p:spPr>
      </p:pic>
      <p:sp>
        <p:nvSpPr>
          <p:cNvPr id="43" name="Text 29"/>
          <p:cNvSpPr/>
          <p:nvPr/>
        </p:nvSpPr>
        <p:spPr>
          <a:xfrm>
            <a:off x="8887968" y="4572000"/>
            <a:ext cx="2560320" cy="868680"/>
          </a:xfrm>
          <a:prstGeom prst="rect">
            <a:avLst/>
          </a:prstGeom>
          <a:noFill/>
          <a:ln/>
        </p:spPr>
        <p:txBody>
          <a:bodyPr wrap="square" lIns="0" tIns="0" rIns="0" bIns="0" rtlCol="0" anchor="ctr"/>
          <a:lstStyle/>
          <a:p>
            <a:pPr algn="l" indent="0" marL="0">
              <a:lnSpc>
                <a:spcPct val="105000"/>
              </a:lnSpc>
              <a:buNone/>
            </a:pPr>
            <a:r>
              <a:rPr lang="en-US" sz="1150" b="1" dirty="0">
                <a:solidFill>
                  <a:srgbClr val="FFFFFF"/>
                </a:solidFill>
                <a:latin typeface="Calibri" pitchFamily="34" charset="0"/>
                <a:ea typeface="Calibri" pitchFamily="34" charset="-122"/>
                <a:cs typeface="Calibri" pitchFamily="34" charset="-120"/>
              </a:rPr>
              <a:t>Expansion of Public Services</a:t>
            </a:r>
            <a:endParaRPr lang="en-US" sz="1150" dirty="0"/>
          </a:p>
        </p:txBody>
      </p:sp>
      <p:sp>
        <p:nvSpPr>
          <p:cNvPr id="44" name="Text 30"/>
          <p:cNvSpPr/>
          <p:nvPr/>
        </p:nvSpPr>
        <p:spPr>
          <a:xfrm>
            <a:off x="548640" y="5715000"/>
            <a:ext cx="110642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45" name="Text 3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900" dirty="0">
                <a:solidFill>
                  <a:srgbClr val="9FB0D8"/>
                </a:solidFill>
                <a:latin typeface="Calibri" pitchFamily="34" charset="0"/>
                <a:ea typeface="Calibri" pitchFamily="34" charset="-122"/>
                <a:cs typeface="Calibri" pitchFamily="34" charset="-120"/>
              </a:rPr>
              <a:t>Citizen Application Document Checklist Generator</a:t>
            </a:r>
            <a:endParaRPr lang="en-US" sz="900" dirty="0"/>
          </a:p>
        </p:txBody>
      </p:sp>
      <p:sp>
        <p:nvSpPr>
          <p:cNvPr id="46" name="Text 3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9FB0D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2026-09-15T06:31:25Z</dcterms:created>
  <dcterms:modified xsi:type="dcterms:W3CDTF">2026-09-15T06:31:25Z</dcterms:modified>
</cp:coreProperties>
</file>